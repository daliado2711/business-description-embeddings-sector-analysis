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DM Sans Bold" charset="1" panose="00000000000000000000"/>
      <p:regular r:id="rId24"/>
    </p:embeddedFont>
    <p:embeddedFont>
      <p:font typeface="Open Sans Semi-Bold" charset="1" panose="00000000000000000000"/>
      <p:regular r:id="rId25"/>
    </p:embeddedFont>
    <p:embeddedFont>
      <p:font typeface="Inter Bold" charset="1" panose="020B0802030000000004"/>
      <p:regular r:id="rId26"/>
    </p:embeddedFont>
    <p:embeddedFont>
      <p:font typeface="Open Sans Bold" charset="1" panose="00000000000000000000"/>
      <p:regular r:id="rId27"/>
    </p:embeddedFont>
    <p:embeddedFont>
      <p:font typeface="Open Sans Medium" charset="1" panose="00000000000000000000"/>
      <p:regular r:id="rId28"/>
    </p:embeddedFont>
    <p:embeddedFont>
      <p:font typeface="Open Sans" charset="1" panose="00000000000000000000"/>
      <p:regular r:id="rId29"/>
    </p:embeddedFont>
    <p:embeddedFont>
      <p:font typeface="Open Sans Italics" charset="1" panose="000000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Relationship Id="rId3" Target="../media/VAGnizRn0RU.mp4" Type="http://schemas.openxmlformats.org/officeDocument/2006/relationships/video"/><Relationship Id="rId4" Target="../media/VAGnizRn0RU.mp4" Type="http://schemas.microsoft.com/office/2007/relationships/media"/><Relationship Id="rId5" Target="../media/image2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7079" y="-37070"/>
            <a:ext cx="18442158" cy="10361140"/>
          </a:xfrm>
          <a:custGeom>
            <a:avLst/>
            <a:gdLst/>
            <a:ahLst/>
            <a:cxnLst/>
            <a:rect r="r" b="b" t="t" l="l"/>
            <a:pathLst>
              <a:path h="10361140" w="18442158">
                <a:moveTo>
                  <a:pt x="0" y="0"/>
                </a:moveTo>
                <a:lnTo>
                  <a:pt x="18442158" y="0"/>
                </a:lnTo>
                <a:lnTo>
                  <a:pt x="18442158" y="10361140"/>
                </a:lnTo>
                <a:lnTo>
                  <a:pt x="0" y="103611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736020">
            <a:off x="14008037" y="771937"/>
            <a:ext cx="1433014" cy="1506454"/>
          </a:xfrm>
          <a:custGeom>
            <a:avLst/>
            <a:gdLst/>
            <a:ahLst/>
            <a:cxnLst/>
            <a:rect r="r" b="b" t="t" l="l"/>
            <a:pathLst>
              <a:path h="1506454" w="1433014">
                <a:moveTo>
                  <a:pt x="0" y="0"/>
                </a:moveTo>
                <a:lnTo>
                  <a:pt x="1433014" y="0"/>
                </a:lnTo>
                <a:lnTo>
                  <a:pt x="1433014" y="1506454"/>
                </a:lnTo>
                <a:lnTo>
                  <a:pt x="0" y="15064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978822">
            <a:off x="1817718" y="-245719"/>
            <a:ext cx="2154291" cy="1271031"/>
          </a:xfrm>
          <a:custGeom>
            <a:avLst/>
            <a:gdLst/>
            <a:ahLst/>
            <a:cxnLst/>
            <a:rect r="r" b="b" t="t" l="l"/>
            <a:pathLst>
              <a:path h="1271031" w="2154291">
                <a:moveTo>
                  <a:pt x="0" y="0"/>
                </a:moveTo>
                <a:lnTo>
                  <a:pt x="2154291" y="0"/>
                </a:lnTo>
                <a:lnTo>
                  <a:pt x="2154291" y="1271032"/>
                </a:lnTo>
                <a:lnTo>
                  <a:pt x="0" y="12710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339687" y="6229512"/>
            <a:ext cx="1277949" cy="1110218"/>
          </a:xfrm>
          <a:custGeom>
            <a:avLst/>
            <a:gdLst/>
            <a:ahLst/>
            <a:cxnLst/>
            <a:rect r="r" b="b" t="t" l="l"/>
            <a:pathLst>
              <a:path h="1110218" w="1277949">
                <a:moveTo>
                  <a:pt x="0" y="0"/>
                </a:moveTo>
                <a:lnTo>
                  <a:pt x="1277949" y="0"/>
                </a:lnTo>
                <a:lnTo>
                  <a:pt x="1277949" y="1110218"/>
                </a:lnTo>
                <a:lnTo>
                  <a:pt x="0" y="11102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259300" y="6229512"/>
            <a:ext cx="1389945" cy="1110218"/>
          </a:xfrm>
          <a:custGeom>
            <a:avLst/>
            <a:gdLst/>
            <a:ahLst/>
            <a:cxnLst/>
            <a:rect r="r" b="b" t="t" l="l"/>
            <a:pathLst>
              <a:path h="1110218" w="1389945">
                <a:moveTo>
                  <a:pt x="0" y="0"/>
                </a:moveTo>
                <a:lnTo>
                  <a:pt x="1389945" y="0"/>
                </a:lnTo>
                <a:lnTo>
                  <a:pt x="1389945" y="1110218"/>
                </a:lnTo>
                <a:lnTo>
                  <a:pt x="0" y="11102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89498" y="8649842"/>
            <a:ext cx="1494629" cy="1416161"/>
          </a:xfrm>
          <a:custGeom>
            <a:avLst/>
            <a:gdLst/>
            <a:ahLst/>
            <a:cxnLst/>
            <a:rect r="r" b="b" t="t" l="l"/>
            <a:pathLst>
              <a:path h="1416161" w="1494629">
                <a:moveTo>
                  <a:pt x="0" y="0"/>
                </a:moveTo>
                <a:lnTo>
                  <a:pt x="1494629" y="0"/>
                </a:lnTo>
                <a:lnTo>
                  <a:pt x="1494629" y="1416161"/>
                </a:lnTo>
                <a:lnTo>
                  <a:pt x="0" y="14161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324525" y="9409651"/>
            <a:ext cx="1059693" cy="1069047"/>
          </a:xfrm>
          <a:custGeom>
            <a:avLst/>
            <a:gdLst/>
            <a:ahLst/>
            <a:cxnLst/>
            <a:rect r="r" b="b" t="t" l="l"/>
            <a:pathLst>
              <a:path h="1069047" w="1059693">
                <a:moveTo>
                  <a:pt x="0" y="0"/>
                </a:moveTo>
                <a:lnTo>
                  <a:pt x="1059692" y="0"/>
                </a:lnTo>
                <a:lnTo>
                  <a:pt x="1059692" y="1069046"/>
                </a:lnTo>
                <a:lnTo>
                  <a:pt x="0" y="10690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502319" y="1028700"/>
            <a:ext cx="586293" cy="483692"/>
          </a:xfrm>
          <a:custGeom>
            <a:avLst/>
            <a:gdLst/>
            <a:ahLst/>
            <a:cxnLst/>
            <a:rect r="r" b="b" t="t" l="l"/>
            <a:pathLst>
              <a:path h="483692" w="586293">
                <a:moveTo>
                  <a:pt x="0" y="0"/>
                </a:moveTo>
                <a:lnTo>
                  <a:pt x="586293" y="0"/>
                </a:lnTo>
                <a:lnTo>
                  <a:pt x="586293" y="483692"/>
                </a:lnTo>
                <a:lnTo>
                  <a:pt x="0" y="4836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57639" y="2922294"/>
            <a:ext cx="15172721" cy="424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35"/>
              </a:lnSpc>
            </a:pPr>
            <a:r>
              <a:rPr lang="en-US" sz="11445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Business Description Embeddings</a:t>
            </a:r>
          </a:p>
          <a:p>
            <a:pPr algn="ctr">
              <a:lnSpc>
                <a:spcPts val="6056"/>
              </a:lnSpc>
            </a:pPr>
            <a:r>
              <a:rPr lang="en-US" sz="5046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UMAP VISUALIZATION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44276" y="8079692"/>
            <a:ext cx="6599447" cy="406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37"/>
              </a:lnSpc>
            </a:pPr>
            <a:r>
              <a:rPr lang="en-US" b="true" sz="2490" spc="184">
                <a:solidFill>
                  <a:srgbClr val="004441"/>
                </a:solidFill>
                <a:latin typeface="DM Sans Bold"/>
                <a:ea typeface="DM Sans Bold"/>
                <a:cs typeface="DM Sans Bold"/>
                <a:sym typeface="DM Sans Bold"/>
              </a:rPr>
              <a:t>DALIA DO  </a:t>
            </a:r>
            <a:r>
              <a:rPr lang="en-US" b="true" sz="2490" spc="184">
                <a:solidFill>
                  <a:srgbClr val="004441"/>
                </a:solidFill>
                <a:latin typeface="DM Sans Bold"/>
                <a:ea typeface="DM Sans Bold"/>
                <a:cs typeface="DM Sans Bold"/>
                <a:sym typeface="DM Sans Bold"/>
              </a:rPr>
              <a:t>|  TUAN LE  |  KHUE NGUYEN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34656" y="1035596"/>
            <a:ext cx="2103242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4441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DSC 682-002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795466" y="1895501"/>
            <a:ext cx="2305199" cy="531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4"/>
              </a:lnSpc>
            </a:pPr>
            <a:r>
              <a:rPr lang="en-US" sz="3889" b="true">
                <a:solidFill>
                  <a:srgbClr val="17726D"/>
                </a:solidFill>
                <a:latin typeface="Inter Bold"/>
                <a:ea typeface="Inter Bold"/>
                <a:cs typeface="Inter Bold"/>
                <a:sym typeface="Inter Bold"/>
              </a:rPr>
              <a:t>GROUP 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8783" y="2796504"/>
            <a:ext cx="7342157" cy="994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0"/>
              </a:lnSpc>
            </a:pPr>
            <a:r>
              <a:rPr lang="en-US" sz="7200" b="true">
                <a:solidFill>
                  <a:srgbClr val="17726D"/>
                </a:solidFill>
                <a:latin typeface="Inter Bold"/>
                <a:ea typeface="Inter Bold"/>
                <a:cs typeface="Inter Bold"/>
                <a:sym typeface="Inter Bold"/>
              </a:rPr>
              <a:t>PART 1</a:t>
            </a:r>
          </a:p>
        </p:txBody>
      </p:sp>
      <p:sp>
        <p:nvSpPr>
          <p:cNvPr name="AutoShape 3" id="3"/>
          <p:cNvSpPr/>
          <p:nvPr/>
        </p:nvSpPr>
        <p:spPr>
          <a:xfrm>
            <a:off x="555027" y="4530054"/>
            <a:ext cx="1858299" cy="0"/>
          </a:xfrm>
          <a:prstGeom prst="line">
            <a:avLst/>
          </a:prstGeom>
          <a:ln cap="flat" w="76200">
            <a:solidFill>
              <a:srgbClr val="EAE4D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-3153254" y="7848705"/>
            <a:ext cx="5402508" cy="5402508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398390" y="-2701254"/>
            <a:ext cx="5402508" cy="5402508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187007" y="-288942"/>
            <a:ext cx="11100993" cy="10838901"/>
            <a:chOff x="0" y="0"/>
            <a:chExt cx="2923718" cy="28546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923718" cy="2854690"/>
            </a:xfrm>
            <a:custGeom>
              <a:avLst/>
              <a:gdLst/>
              <a:ahLst/>
              <a:cxnLst/>
              <a:rect r="r" b="b" t="t" l="l"/>
              <a:pathLst>
                <a:path h="2854690" w="2923718">
                  <a:moveTo>
                    <a:pt x="0" y="0"/>
                  </a:moveTo>
                  <a:lnTo>
                    <a:pt x="2923718" y="0"/>
                  </a:lnTo>
                  <a:lnTo>
                    <a:pt x="2923718" y="2854690"/>
                  </a:lnTo>
                  <a:lnTo>
                    <a:pt x="0" y="2854690"/>
                  </a:lnTo>
                  <a:close/>
                </a:path>
              </a:pathLst>
            </a:custGeom>
            <a:solidFill>
              <a:srgbClr val="17726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923718" cy="29023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249254" y="5130509"/>
            <a:ext cx="4524975" cy="4417124"/>
          </a:xfrm>
          <a:custGeom>
            <a:avLst/>
            <a:gdLst/>
            <a:ahLst/>
            <a:cxnLst/>
            <a:rect r="r" b="b" t="t" l="l"/>
            <a:pathLst>
              <a:path h="4417124" w="4524975">
                <a:moveTo>
                  <a:pt x="0" y="0"/>
                </a:moveTo>
                <a:lnTo>
                  <a:pt x="4524975" y="0"/>
                </a:lnTo>
                <a:lnTo>
                  <a:pt x="4524975" y="4417124"/>
                </a:lnTo>
                <a:lnTo>
                  <a:pt x="0" y="44171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83" t="-8545" r="-2979" b="-5493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55027" y="3905214"/>
            <a:ext cx="663198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</a:pPr>
            <a:r>
              <a:rPr lang="en-US" b="true" sz="2699" spc="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 PREPARATION &amp; CLEANING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850941" y="3562314"/>
            <a:ext cx="9927021" cy="1916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67"/>
              </a:lnSpc>
            </a:pPr>
            <a:r>
              <a:rPr lang="en-US" sz="3226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1. Introduction about the project </a:t>
            </a:r>
          </a:p>
          <a:p>
            <a:pPr algn="l">
              <a:lnSpc>
                <a:spcPts val="8067"/>
              </a:lnSpc>
            </a:pPr>
            <a:r>
              <a:rPr lang="en-US" sz="3226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2. </a:t>
            </a:r>
            <a:r>
              <a:rPr lang="en-US" sz="3226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Data Preparation &amp; Cleaning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80553" y="-3269085"/>
            <a:ext cx="5402508" cy="540250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  <a:r>
                <a:rPr lang="en-US" b="true" sz="1599">
                  <a:solidFill>
                    <a:srgbClr val="000000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-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744950" y="-659281"/>
            <a:ext cx="1028700" cy="1135661"/>
            <a:chOff x="0" y="0"/>
            <a:chExt cx="270933" cy="2991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99104"/>
            </a:xfrm>
            <a:custGeom>
              <a:avLst/>
              <a:gdLst/>
              <a:ahLst/>
              <a:cxnLst/>
              <a:rect r="r" b="b" t="t" l="l"/>
              <a:pathLst>
                <a:path h="299104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99104"/>
                  </a:lnTo>
                  <a:lnTo>
                    <a:pt x="0" y="299104"/>
                  </a:lnTo>
                  <a:close/>
                </a:path>
              </a:pathLst>
            </a:custGeom>
            <a:solidFill>
              <a:srgbClr val="EAE4D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70933" cy="3467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66372" y="8797066"/>
            <a:ext cx="3547230" cy="354723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487036" y="0"/>
            <a:ext cx="800964" cy="10287000"/>
            <a:chOff x="0" y="0"/>
            <a:chExt cx="210953" cy="27093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095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0953">
                  <a:moveTo>
                    <a:pt x="0" y="0"/>
                  </a:moveTo>
                  <a:lnTo>
                    <a:pt x="210953" y="0"/>
                  </a:lnTo>
                  <a:lnTo>
                    <a:pt x="21095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7726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1095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8263048" y="3897948"/>
            <a:ext cx="8637125" cy="1534902"/>
          </a:xfrm>
          <a:custGeom>
            <a:avLst/>
            <a:gdLst/>
            <a:ahLst/>
            <a:cxnLst/>
            <a:rect r="r" b="b" t="t" l="l"/>
            <a:pathLst>
              <a:path h="1534902" w="8637125">
                <a:moveTo>
                  <a:pt x="0" y="0"/>
                </a:moveTo>
                <a:lnTo>
                  <a:pt x="8637125" y="0"/>
                </a:lnTo>
                <a:lnTo>
                  <a:pt x="8637125" y="1534902"/>
                </a:lnTo>
                <a:lnTo>
                  <a:pt x="0" y="15349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44" r="0" b="-644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263048" y="6060440"/>
            <a:ext cx="3112039" cy="1400796"/>
          </a:xfrm>
          <a:custGeom>
            <a:avLst/>
            <a:gdLst/>
            <a:ahLst/>
            <a:cxnLst/>
            <a:rect r="r" b="b" t="t" l="l"/>
            <a:pathLst>
              <a:path h="1400796" w="3112039">
                <a:moveTo>
                  <a:pt x="0" y="0"/>
                </a:moveTo>
                <a:lnTo>
                  <a:pt x="3112039" y="0"/>
                </a:lnTo>
                <a:lnTo>
                  <a:pt x="3112039" y="1400797"/>
                </a:lnTo>
                <a:lnTo>
                  <a:pt x="0" y="14007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053705" y="1104900"/>
            <a:ext cx="8846468" cy="1720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648"/>
              </a:lnSpc>
            </a:pPr>
            <a:r>
              <a:rPr lang="en-US" b="true" sz="6331">
                <a:solidFill>
                  <a:srgbClr val="17726D"/>
                </a:solidFill>
                <a:latin typeface="Inter Bold"/>
                <a:ea typeface="Inter Bold"/>
                <a:cs typeface="Inter Bold"/>
                <a:sym typeface="Inter Bold"/>
              </a:rPr>
              <a:t>DATA PREPRATION &amp; CLEANING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31175" y="1861961"/>
            <a:ext cx="6631981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</a:pPr>
            <a:r>
              <a:rPr lang="en-US" b="true" sz="2999" spc="221">
                <a:solidFill>
                  <a:srgbClr val="17726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PROJECT INTRODUCTION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10111" y="3100070"/>
            <a:ext cx="5217505" cy="2805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47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Visualize relationships between companies based on their business descriptions.</a:t>
            </a:r>
          </a:p>
          <a:p>
            <a:pPr algn="l" marL="345439" indent="-172720" lvl="1">
              <a:lnSpc>
                <a:spcPts val="247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Use sentence transformer embeddings to convert text into numeric vectors.</a:t>
            </a:r>
          </a:p>
          <a:p>
            <a:pPr algn="l" marL="345439" indent="-172720" lvl="1">
              <a:lnSpc>
                <a:spcPts val="247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Apply UMAP to project high-dimensional data into a 2D visual space.</a:t>
            </a:r>
          </a:p>
          <a:p>
            <a:pPr algn="l" marL="345439" indent="-172720" lvl="1">
              <a:lnSpc>
                <a:spcPts val="247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Objective: Discover sector patterns and outliers through visualization.</a:t>
            </a:r>
          </a:p>
          <a:p>
            <a:pPr algn="l">
              <a:lnSpc>
                <a:spcPts val="2479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831175" y="5857875"/>
            <a:ext cx="6631981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</a:pPr>
            <a:r>
              <a:rPr lang="en-US" b="true" sz="2999" spc="221">
                <a:solidFill>
                  <a:srgbClr val="17726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PURPOSE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31175" y="6648451"/>
            <a:ext cx="5217505" cy="2176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9"/>
              </a:lnSpc>
            </a:pPr>
            <a:r>
              <a:rPr lang="en-US" sz="1599" b="true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Help businesses and analysts</a:t>
            </a:r>
          </a:p>
          <a:p>
            <a:pPr algn="l" marL="345439" indent="-172720" lvl="1">
              <a:lnSpc>
                <a:spcPts val="247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Identify industry clusters</a:t>
            </a:r>
          </a:p>
          <a:p>
            <a:pPr algn="l" marL="345439" indent="-172720" lvl="1">
              <a:lnSpc>
                <a:spcPts val="247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Potential competitors</a:t>
            </a:r>
          </a:p>
          <a:p>
            <a:pPr algn="l" marL="345439" indent="-172720" lvl="1">
              <a:lnSpc>
                <a:spcPts val="247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Investment opportunities</a:t>
            </a:r>
          </a:p>
          <a:p>
            <a:pPr algn="l">
              <a:lnSpc>
                <a:spcPts val="2479"/>
              </a:lnSpc>
            </a:pPr>
            <a:r>
              <a:rPr lang="en-US" sz="1599" b="true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based on business model similarity, even when textual descriptions differ.</a:t>
            </a:r>
          </a:p>
          <a:p>
            <a:pPr algn="l">
              <a:lnSpc>
                <a:spcPts val="2479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8263048" y="3100070"/>
            <a:ext cx="8637125" cy="1548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479"/>
              </a:lnSpc>
              <a:buAutoNum type="arabicPeriod" startAt="1"/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Lo</a:t>
            </a: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aded dataset with company tickers, descriptions, sectors, industries, and precomputed embeddings.</a:t>
            </a:r>
          </a:p>
          <a:p>
            <a:pPr algn="l">
              <a:lnSpc>
                <a:spcPts val="2479"/>
              </a:lnSpc>
            </a:pPr>
          </a:p>
          <a:p>
            <a:pPr algn="l">
              <a:lnSpc>
                <a:spcPts val="2479"/>
              </a:lnSpc>
            </a:pPr>
          </a:p>
          <a:p>
            <a:pPr algn="l">
              <a:lnSpc>
                <a:spcPts val="2479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8263048" y="5579110"/>
            <a:ext cx="6102208" cy="290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9"/>
              </a:lnSpc>
            </a:pPr>
            <a:r>
              <a:rPr lang="en-US" sz="1599" b="true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2. </a:t>
            </a: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Identified 729 missing values in Sector and Industry columns.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324578" y="7604112"/>
            <a:ext cx="8598439" cy="1548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9"/>
              </a:lnSpc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3. </a:t>
            </a: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Applied keyword filtering to detect ETF-related descriptions (e.g., “ETF”, “track the index”),</a:t>
            </a:r>
          </a:p>
          <a:p>
            <a:pPr algn="l">
              <a:lnSpc>
                <a:spcPts val="247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rows with ETF-like descriptions and missing sector info were labeled as:</a:t>
            </a:r>
          </a:p>
          <a:p>
            <a:pPr algn="l" marL="345439" indent="-172720" lvl="1">
              <a:lnSpc>
                <a:spcPts val="2479"/>
              </a:lnSpc>
              <a:spcBef>
                <a:spcPct val="0"/>
              </a:spcBef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Sector = ETF</a:t>
            </a:r>
          </a:p>
          <a:p>
            <a:pPr algn="l" marL="345439" indent="-172720" lvl="1">
              <a:lnSpc>
                <a:spcPts val="2479"/>
              </a:lnSpc>
              <a:spcBef>
                <a:spcPct val="0"/>
              </a:spcBef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Industry = ETF</a:t>
            </a:r>
          </a:p>
          <a:p>
            <a:pPr algn="l">
              <a:lnSpc>
                <a:spcPts val="247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341747" y="8983014"/>
            <a:ext cx="6796683" cy="290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9"/>
              </a:lnSpc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4. </a:t>
            </a: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Remaining missing values were labeled as Unknown to retain all data.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273041" y="9416719"/>
            <a:ext cx="6236069" cy="290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-.&gt; </a:t>
            </a: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Final dataset had no missing values and was ready for analysis.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8783" y="2251674"/>
            <a:ext cx="7342157" cy="994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0"/>
              </a:lnSpc>
            </a:pPr>
            <a:r>
              <a:rPr lang="en-US" sz="7200" b="true">
                <a:solidFill>
                  <a:srgbClr val="17726D"/>
                </a:solidFill>
                <a:latin typeface="Inter Bold"/>
                <a:ea typeface="Inter Bold"/>
                <a:cs typeface="Inter Bold"/>
                <a:sym typeface="Inter Bold"/>
              </a:rPr>
              <a:t>PART 2</a:t>
            </a:r>
          </a:p>
        </p:txBody>
      </p:sp>
      <p:sp>
        <p:nvSpPr>
          <p:cNvPr name="AutoShape 3" id="3"/>
          <p:cNvSpPr/>
          <p:nvPr/>
        </p:nvSpPr>
        <p:spPr>
          <a:xfrm>
            <a:off x="555027" y="4530054"/>
            <a:ext cx="1858299" cy="0"/>
          </a:xfrm>
          <a:prstGeom prst="line">
            <a:avLst/>
          </a:prstGeom>
          <a:ln cap="flat" w="76200">
            <a:solidFill>
              <a:srgbClr val="EAE4D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-3153254" y="7848705"/>
            <a:ext cx="5402508" cy="5402508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398390" y="-2701254"/>
            <a:ext cx="5402508" cy="5402508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187007" y="-288942"/>
            <a:ext cx="11100993" cy="10838901"/>
            <a:chOff x="0" y="0"/>
            <a:chExt cx="2923718" cy="28546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923718" cy="2854690"/>
            </a:xfrm>
            <a:custGeom>
              <a:avLst/>
              <a:gdLst/>
              <a:ahLst/>
              <a:cxnLst/>
              <a:rect r="r" b="b" t="t" l="l"/>
              <a:pathLst>
                <a:path h="2854690" w="2923718">
                  <a:moveTo>
                    <a:pt x="0" y="0"/>
                  </a:moveTo>
                  <a:lnTo>
                    <a:pt x="2923718" y="0"/>
                  </a:lnTo>
                  <a:lnTo>
                    <a:pt x="2923718" y="2854690"/>
                  </a:lnTo>
                  <a:lnTo>
                    <a:pt x="0" y="2854690"/>
                  </a:lnTo>
                  <a:close/>
                </a:path>
              </a:pathLst>
            </a:custGeom>
            <a:solidFill>
              <a:srgbClr val="17726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923718" cy="29023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249254" y="5130509"/>
            <a:ext cx="4524975" cy="4417124"/>
          </a:xfrm>
          <a:custGeom>
            <a:avLst/>
            <a:gdLst/>
            <a:ahLst/>
            <a:cxnLst/>
            <a:rect r="r" b="b" t="t" l="l"/>
            <a:pathLst>
              <a:path h="4417124" w="4524975">
                <a:moveTo>
                  <a:pt x="0" y="0"/>
                </a:moveTo>
                <a:lnTo>
                  <a:pt x="4524975" y="0"/>
                </a:lnTo>
                <a:lnTo>
                  <a:pt x="4524975" y="4417124"/>
                </a:lnTo>
                <a:lnTo>
                  <a:pt x="0" y="44171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83" t="-8545" r="-2979" b="-5493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55027" y="3369909"/>
            <a:ext cx="6631981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699" spc="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EXPLAINING</a:t>
            </a:r>
          </a:p>
          <a:p>
            <a:pPr algn="l" marL="0" indent="0" lvl="0">
              <a:lnSpc>
                <a:spcPts val="3779"/>
              </a:lnSpc>
            </a:pPr>
            <a:r>
              <a:rPr lang="en-US" b="true" sz="2699" spc="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SENTENCE EMBEDDINGS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850941" y="3562314"/>
            <a:ext cx="9927021" cy="1916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67"/>
              </a:lnSpc>
            </a:pPr>
            <a:r>
              <a:rPr lang="en-US" sz="3226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1. Explaining Sentence Embeddings</a:t>
            </a:r>
          </a:p>
          <a:p>
            <a:pPr algn="l">
              <a:lnSpc>
                <a:spcPts val="8067"/>
              </a:lnSpc>
            </a:pPr>
            <a:r>
              <a:rPr lang="en-US" sz="3226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2. Visualizing Sentence Embeddings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80553" y="-3269085"/>
            <a:ext cx="5402508" cy="540250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  <a:r>
                <a:rPr lang="en-US" b="true" sz="1599">
                  <a:solidFill>
                    <a:srgbClr val="000000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-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744950" y="-659281"/>
            <a:ext cx="1028700" cy="1135661"/>
            <a:chOff x="0" y="0"/>
            <a:chExt cx="270933" cy="2991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99104"/>
            </a:xfrm>
            <a:custGeom>
              <a:avLst/>
              <a:gdLst/>
              <a:ahLst/>
              <a:cxnLst/>
              <a:rect r="r" b="b" t="t" l="l"/>
              <a:pathLst>
                <a:path h="299104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99104"/>
                  </a:lnTo>
                  <a:lnTo>
                    <a:pt x="0" y="299104"/>
                  </a:lnTo>
                  <a:close/>
                </a:path>
              </a:pathLst>
            </a:custGeom>
            <a:solidFill>
              <a:srgbClr val="EAE4D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70933" cy="3467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66372" y="8797066"/>
            <a:ext cx="3547230" cy="354723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487036" y="0"/>
            <a:ext cx="800964" cy="10287000"/>
            <a:chOff x="0" y="0"/>
            <a:chExt cx="210953" cy="27093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095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0953">
                  <a:moveTo>
                    <a:pt x="0" y="0"/>
                  </a:moveTo>
                  <a:lnTo>
                    <a:pt x="210953" y="0"/>
                  </a:lnTo>
                  <a:lnTo>
                    <a:pt x="21095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7726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1095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14832" y="758755"/>
            <a:ext cx="15336689" cy="1720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648"/>
              </a:lnSpc>
            </a:pPr>
            <a:r>
              <a:rPr lang="en-US" b="true" sz="6331">
                <a:solidFill>
                  <a:srgbClr val="17726D"/>
                </a:solidFill>
                <a:latin typeface="Inter Bold"/>
                <a:ea typeface="Inter Bold"/>
                <a:cs typeface="Inter Bold"/>
                <a:sym typeface="Inter Bold"/>
              </a:rPr>
              <a:t>EXPLAINING &amp; VISUALIZING</a:t>
            </a:r>
          </a:p>
          <a:p>
            <a:pPr algn="just">
              <a:lnSpc>
                <a:spcPts val="6648"/>
              </a:lnSpc>
            </a:pPr>
            <a:r>
              <a:rPr lang="en-US" b="true" sz="6331">
                <a:solidFill>
                  <a:srgbClr val="17726D"/>
                </a:solidFill>
                <a:latin typeface="Inter Bold"/>
                <a:ea typeface="Inter Bold"/>
                <a:cs typeface="Inter Bold"/>
                <a:sym typeface="Inter Bold"/>
              </a:rPr>
              <a:t>SENTENCE EMBEDDINGS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4032066" y="805829"/>
            <a:ext cx="3227234" cy="3150314"/>
          </a:xfrm>
          <a:custGeom>
            <a:avLst/>
            <a:gdLst/>
            <a:ahLst/>
            <a:cxnLst/>
            <a:rect r="r" b="b" t="t" l="l"/>
            <a:pathLst>
              <a:path h="3150314" w="3227234">
                <a:moveTo>
                  <a:pt x="0" y="0"/>
                </a:moveTo>
                <a:lnTo>
                  <a:pt x="3227234" y="0"/>
                </a:lnTo>
                <a:lnTo>
                  <a:pt x="3227234" y="3150314"/>
                </a:lnTo>
                <a:lnTo>
                  <a:pt x="0" y="31503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83" t="-8545" r="-2979" b="-5493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546618" y="6564884"/>
            <a:ext cx="6839946" cy="1427839"/>
          </a:xfrm>
          <a:custGeom>
            <a:avLst/>
            <a:gdLst/>
            <a:ahLst/>
            <a:cxnLst/>
            <a:rect r="r" b="b" t="t" l="l"/>
            <a:pathLst>
              <a:path h="1427839" w="6839946">
                <a:moveTo>
                  <a:pt x="0" y="0"/>
                </a:moveTo>
                <a:lnTo>
                  <a:pt x="6839946" y="0"/>
                </a:lnTo>
                <a:lnTo>
                  <a:pt x="6839946" y="1427839"/>
                </a:lnTo>
                <a:lnTo>
                  <a:pt x="0" y="14278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14832" y="2660108"/>
            <a:ext cx="11276094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</a:pPr>
            <a:r>
              <a:rPr lang="en-US" b="true" sz="2699" spc="199">
                <a:solidFill>
                  <a:srgbClr val="17726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WHAT ARE SENTENCE TRANSFORMER EMBEDDINGS?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14832" y="3315428"/>
            <a:ext cx="5816876" cy="1233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47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sentence embedding is a vector of numbers that captures the meaning of a sentence.</a:t>
            </a:r>
          </a:p>
          <a:p>
            <a:pPr algn="l" marL="345439" indent="-172720" lvl="1">
              <a:lnSpc>
                <a:spcPts val="247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It’s like a semantic fingerprint of the text — enabling comparison based on meaning, not keywords.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14832" y="4882515"/>
            <a:ext cx="11276094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</a:pPr>
            <a:r>
              <a:rPr lang="en-US" b="true" sz="2699" spc="199">
                <a:solidFill>
                  <a:srgbClr val="17726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WHAT DOES A SENTENCE TRANSFORMER DO?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42149" y="5537835"/>
            <a:ext cx="8719543" cy="290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345439" indent="-172720" lvl="1">
              <a:lnSpc>
                <a:spcPts val="247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Converts an entire sentence (or company description) into a fixed-length numeric vector.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42149" y="5781040"/>
            <a:ext cx="5385792" cy="919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47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Input: text, like whole sentences</a:t>
            </a:r>
          </a:p>
          <a:p>
            <a:pPr algn="l" marL="345439" indent="-172720" lvl="1">
              <a:lnSpc>
                <a:spcPts val="247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Sentence Transformer: Converts text to embeddings</a:t>
            </a:r>
          </a:p>
          <a:p>
            <a:pPr algn="l" marL="345439" indent="-172720" lvl="1">
              <a:lnSpc>
                <a:spcPts val="247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Output: Vector of numbers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14832" y="6881495"/>
            <a:ext cx="11276094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</a:pPr>
            <a:r>
              <a:rPr lang="en-US" b="true" sz="2699" spc="199">
                <a:solidFill>
                  <a:srgbClr val="17726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WHAT IS THE GOAL OF EMBEDDINGS?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42149" y="7536816"/>
            <a:ext cx="8066315" cy="605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47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Not just assign every word to a vector a numbers.</a:t>
            </a:r>
          </a:p>
          <a:p>
            <a:pPr algn="l" marL="345439" indent="-172720" lvl="1">
              <a:lnSpc>
                <a:spcPts val="247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But also to ensure that words of similar meaning are close together numerically.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42149" y="8332246"/>
            <a:ext cx="11276094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699" spc="199">
                <a:solidFill>
                  <a:srgbClr val="17726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WHY 768 DIMENSIONS?</a:t>
            </a:r>
          </a:p>
          <a:p>
            <a:pPr algn="l" marL="0" indent="0" lvl="0">
              <a:lnSpc>
                <a:spcPts val="3779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442149" y="8980171"/>
            <a:ext cx="7468876" cy="605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47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The BERT model used for sentence embeddings has an output size of 768.</a:t>
            </a:r>
          </a:p>
          <a:p>
            <a:pPr algn="l" marL="345439" indent="-172720" lvl="1">
              <a:lnSpc>
                <a:spcPts val="247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Conveniently, 768 = 16 × 16 × 3 → can be visualized as a 16×16 RGB image.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041889" y="4232368"/>
            <a:ext cx="11276094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779"/>
              </a:lnSpc>
            </a:pPr>
            <a:r>
              <a:rPr lang="en-US" b="true" sz="2699" spc="199">
                <a:solidFill>
                  <a:srgbClr val="17726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VISUALIZING AN EMBEDDING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113602" y="4909185"/>
            <a:ext cx="6204381" cy="1548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479"/>
              </a:lnSpc>
              <a:buAutoNum type="arabicPeriod" startAt="1"/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We reshaped each embedding into a color icon to represent the company's business meaning.</a:t>
            </a:r>
          </a:p>
          <a:p>
            <a:pPr algn="l" marL="345439" indent="-172720" lvl="1">
              <a:lnSpc>
                <a:spcPts val="2479"/>
              </a:lnSpc>
              <a:buAutoNum type="arabicPeriod" startAt="1"/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The result: A visual fingerprint — the color patterns reflect unique text characteristics.</a:t>
            </a:r>
          </a:p>
          <a:p>
            <a:pPr algn="l" marL="345439" indent="-172720" lvl="1">
              <a:lnSpc>
                <a:spcPts val="2479"/>
              </a:lnSpc>
              <a:buAutoNum type="arabicPeriod" startAt="1"/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Helps us intuitively compare different companies.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022813" y="8188860"/>
            <a:ext cx="8750837" cy="186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9"/>
              </a:lnSpc>
              <a:spcBef>
                <a:spcPct val="0"/>
              </a:spcBef>
            </a:pPr>
            <a:r>
              <a:rPr lang="en-US" b="true" sz="1599">
                <a:solidFill>
                  <a:srgbClr val="17726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 Picture is Worth a Thousand Words</a:t>
            </a:r>
          </a:p>
          <a:p>
            <a:pPr algn="l">
              <a:lnSpc>
                <a:spcPts val="247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Just like an image compresses a lot of visual detail, an embedding compresses a lot of textual meaning.</a:t>
            </a:r>
          </a:p>
          <a:p>
            <a:pPr algn="l">
              <a:lnSpc>
                <a:spcPts val="247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We can’t read these embeddings directly, but we can visualize them to compare companies.</a:t>
            </a:r>
          </a:p>
          <a:p>
            <a:pPr algn="l">
              <a:lnSpc>
                <a:spcPts val="247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Each color pattern is a compact representation of what the company does.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8783" y="2796504"/>
            <a:ext cx="7342157" cy="994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0"/>
              </a:lnSpc>
            </a:pPr>
            <a:r>
              <a:rPr lang="en-US" sz="7200" b="true">
                <a:solidFill>
                  <a:srgbClr val="17726D"/>
                </a:solidFill>
                <a:latin typeface="Inter Bold"/>
                <a:ea typeface="Inter Bold"/>
                <a:cs typeface="Inter Bold"/>
                <a:sym typeface="Inter Bold"/>
              </a:rPr>
              <a:t>PART 3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55027" y="3905214"/>
            <a:ext cx="5356265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</a:pPr>
            <a:r>
              <a:rPr lang="en-US" b="true" sz="2699" spc="1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EXPLANATION OF UMAP </a:t>
            </a:r>
          </a:p>
        </p:txBody>
      </p:sp>
      <p:sp>
        <p:nvSpPr>
          <p:cNvPr name="AutoShape 4" id="4"/>
          <p:cNvSpPr/>
          <p:nvPr/>
        </p:nvSpPr>
        <p:spPr>
          <a:xfrm>
            <a:off x="555027" y="4530054"/>
            <a:ext cx="1858299" cy="0"/>
          </a:xfrm>
          <a:prstGeom prst="line">
            <a:avLst/>
          </a:prstGeom>
          <a:ln cap="flat" w="76200">
            <a:solidFill>
              <a:srgbClr val="EAE4D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-3153254" y="7848705"/>
            <a:ext cx="5402508" cy="540250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398390" y="-2701254"/>
            <a:ext cx="5402508" cy="540250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87007" y="-288942"/>
            <a:ext cx="11100993" cy="10838901"/>
            <a:chOff x="0" y="0"/>
            <a:chExt cx="2923718" cy="28546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23718" cy="2854690"/>
            </a:xfrm>
            <a:custGeom>
              <a:avLst/>
              <a:gdLst/>
              <a:ahLst/>
              <a:cxnLst/>
              <a:rect r="r" b="b" t="t" l="l"/>
              <a:pathLst>
                <a:path h="2854690" w="2923718">
                  <a:moveTo>
                    <a:pt x="0" y="0"/>
                  </a:moveTo>
                  <a:lnTo>
                    <a:pt x="2923718" y="0"/>
                  </a:lnTo>
                  <a:lnTo>
                    <a:pt x="2923718" y="2854690"/>
                  </a:lnTo>
                  <a:lnTo>
                    <a:pt x="0" y="2854690"/>
                  </a:lnTo>
                  <a:close/>
                </a:path>
              </a:pathLst>
            </a:custGeom>
            <a:solidFill>
              <a:srgbClr val="17726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923718" cy="29023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039294" y="2448445"/>
            <a:ext cx="9927021" cy="4990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67"/>
              </a:lnSpc>
            </a:pPr>
            <a:r>
              <a:rPr lang="en-US" sz="3226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1. Understanding UMAP: </a:t>
            </a:r>
          </a:p>
          <a:p>
            <a:pPr algn="l">
              <a:lnSpc>
                <a:spcPts val="8067"/>
              </a:lnSpc>
            </a:pPr>
            <a:r>
              <a:rPr lang="en-US" sz="3226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What UMAP does to the embedding space.</a:t>
            </a:r>
          </a:p>
          <a:p>
            <a:pPr algn="l">
              <a:lnSpc>
                <a:spcPts val="8067"/>
              </a:lnSpc>
            </a:pPr>
            <a:r>
              <a:rPr lang="en-US" sz="3226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2. UMAP Parameter Demonstration</a:t>
            </a:r>
          </a:p>
          <a:p>
            <a:pPr algn="l">
              <a:lnSpc>
                <a:spcPts val="8067"/>
              </a:lnSpc>
            </a:pPr>
            <a:r>
              <a:rPr lang="en-US" sz="3226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3. Parameter Impact on Layout</a:t>
            </a:r>
          </a:p>
          <a:p>
            <a:pPr algn="l">
              <a:lnSpc>
                <a:spcPts val="8067"/>
              </a:lnSpc>
            </a:pPr>
            <a:r>
              <a:rPr lang="en-US" sz="3226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4. Applying UMAP to Business Sectors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2028174" y="4739604"/>
            <a:ext cx="4805114" cy="4972151"/>
          </a:xfrm>
          <a:custGeom>
            <a:avLst/>
            <a:gdLst/>
            <a:ahLst/>
            <a:cxnLst/>
            <a:rect r="r" b="b" t="t" l="l"/>
            <a:pathLst>
              <a:path h="4972151" w="4805114">
                <a:moveTo>
                  <a:pt x="0" y="0"/>
                </a:moveTo>
                <a:lnTo>
                  <a:pt x="4805114" y="0"/>
                </a:lnTo>
                <a:lnTo>
                  <a:pt x="4805114" y="4972151"/>
                </a:lnTo>
                <a:lnTo>
                  <a:pt x="0" y="49721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76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80553" y="-3269085"/>
            <a:ext cx="5402508" cy="540250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744950" y="-659281"/>
            <a:ext cx="1028700" cy="1135661"/>
            <a:chOff x="0" y="0"/>
            <a:chExt cx="270933" cy="2991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99104"/>
            </a:xfrm>
            <a:custGeom>
              <a:avLst/>
              <a:gdLst/>
              <a:ahLst/>
              <a:cxnLst/>
              <a:rect r="r" b="b" t="t" l="l"/>
              <a:pathLst>
                <a:path h="299104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99104"/>
                  </a:lnTo>
                  <a:lnTo>
                    <a:pt x="0" y="299104"/>
                  </a:lnTo>
                  <a:close/>
                </a:path>
              </a:pathLst>
            </a:custGeom>
            <a:solidFill>
              <a:srgbClr val="EAE4D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70933" cy="3467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66372" y="8797066"/>
            <a:ext cx="3547230" cy="354723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487036" y="0"/>
            <a:ext cx="800964" cy="10287000"/>
            <a:chOff x="0" y="0"/>
            <a:chExt cx="210953" cy="27093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095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0953">
                  <a:moveTo>
                    <a:pt x="0" y="0"/>
                  </a:moveTo>
                  <a:lnTo>
                    <a:pt x="210953" y="0"/>
                  </a:lnTo>
                  <a:lnTo>
                    <a:pt x="21095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7726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1095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28700" y="2377861"/>
            <a:ext cx="6277982" cy="6058381"/>
          </a:xfrm>
          <a:custGeom>
            <a:avLst/>
            <a:gdLst/>
            <a:ahLst/>
            <a:cxnLst/>
            <a:rect r="r" b="b" t="t" l="l"/>
            <a:pathLst>
              <a:path h="6058381" w="6277982">
                <a:moveTo>
                  <a:pt x="0" y="0"/>
                </a:moveTo>
                <a:lnTo>
                  <a:pt x="6277982" y="0"/>
                </a:lnTo>
                <a:lnTo>
                  <a:pt x="6277982" y="6058382"/>
                </a:lnTo>
                <a:lnTo>
                  <a:pt x="0" y="60583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456917" y="6544263"/>
            <a:ext cx="9142089" cy="1085623"/>
          </a:xfrm>
          <a:custGeom>
            <a:avLst/>
            <a:gdLst/>
            <a:ahLst/>
            <a:cxnLst/>
            <a:rect r="r" b="b" t="t" l="l"/>
            <a:pathLst>
              <a:path h="1085623" w="9142089">
                <a:moveTo>
                  <a:pt x="0" y="0"/>
                </a:moveTo>
                <a:lnTo>
                  <a:pt x="9142089" y="0"/>
                </a:lnTo>
                <a:lnTo>
                  <a:pt x="9142089" y="1085623"/>
                </a:lnTo>
                <a:lnTo>
                  <a:pt x="0" y="10856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8700" y="1104900"/>
            <a:ext cx="7678781" cy="882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8"/>
              </a:lnSpc>
            </a:pPr>
            <a:r>
              <a:rPr lang="en-US" sz="6331" b="true">
                <a:solidFill>
                  <a:srgbClr val="17726D"/>
                </a:solidFill>
                <a:latin typeface="Inter Bold"/>
                <a:ea typeface="Inter Bold"/>
                <a:cs typeface="Inter Bold"/>
                <a:sym typeface="Inter Bold"/>
              </a:rPr>
              <a:t> WHAT IS UMAP?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66372" y="2468641"/>
            <a:ext cx="9835589" cy="1318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5"/>
              </a:lnSpc>
            </a:pPr>
            <a:r>
              <a:rPr lang="en-US" b="true" sz="1599">
                <a:solidFill>
                  <a:srgbClr val="17726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UMAP (Uniform Manifold Approximation and Projection)</a:t>
            </a:r>
            <a:r>
              <a:rPr lang="en-US" b="true" sz="1599">
                <a:solidFill>
                  <a:srgbClr val="17726D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is a dimensionality reduction technique.</a:t>
            </a:r>
          </a:p>
          <a:p>
            <a:pPr algn="l">
              <a:lnSpc>
                <a:spcPts val="3615"/>
              </a:lnSpc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It helps us visualize high-dimensional data, like 768-dimensional sentence embeddings, by projecting them into 2D or 3D space, while preserving meaningful relationships.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66372" y="3955950"/>
            <a:ext cx="5730308" cy="1451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45439" indent="-172720" lvl="1">
              <a:lnSpc>
                <a:spcPts val="2943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Reduces text embeddings → visual clusters</a:t>
            </a:r>
          </a:p>
          <a:p>
            <a:pPr algn="just" marL="345439" indent="-172720" lvl="1">
              <a:lnSpc>
                <a:spcPts val="2943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Similar components stay close</a:t>
            </a:r>
          </a:p>
          <a:p>
            <a:pPr algn="just" marL="345439" indent="-172720" lvl="1">
              <a:lnSpc>
                <a:spcPts val="2943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Dissimilar ones are pushed apart</a:t>
            </a:r>
          </a:p>
          <a:p>
            <a:pPr algn="just" marL="345439" indent="-172720" lvl="1">
              <a:lnSpc>
                <a:spcPts val="2943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Ideal for finding hidden patterns in business descriptions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566372" y="5672453"/>
            <a:ext cx="4310807" cy="290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9"/>
              </a:lnSpc>
              <a:spcBef>
                <a:spcPct val="0"/>
              </a:spcBef>
            </a:pPr>
            <a:r>
              <a:rPr lang="en-US" b="true" sz="1599">
                <a:solidFill>
                  <a:srgbClr val="17726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What UMAP does to the embedding space?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566372" y="5986733"/>
            <a:ext cx="5082778" cy="290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UMAP’s behavior is controlled by two key parameters: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66372" y="7848961"/>
            <a:ext cx="7552283" cy="290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9"/>
              </a:lnSpc>
              <a:spcBef>
                <a:spcPct val="0"/>
              </a:spcBef>
            </a:pPr>
            <a:r>
              <a:rPr lang="en-US" sz="1599" i="true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These two parameters let us balance between seeing fine detail and overall patterns.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80553" y="-3269085"/>
            <a:ext cx="5402508" cy="540250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744950" y="-659281"/>
            <a:ext cx="1028700" cy="1135661"/>
            <a:chOff x="0" y="0"/>
            <a:chExt cx="270933" cy="2991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99104"/>
            </a:xfrm>
            <a:custGeom>
              <a:avLst/>
              <a:gdLst/>
              <a:ahLst/>
              <a:cxnLst/>
              <a:rect r="r" b="b" t="t" l="l"/>
              <a:pathLst>
                <a:path h="299104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99104"/>
                  </a:lnTo>
                  <a:lnTo>
                    <a:pt x="0" y="299104"/>
                  </a:lnTo>
                  <a:close/>
                </a:path>
              </a:pathLst>
            </a:custGeom>
            <a:solidFill>
              <a:srgbClr val="EAE4D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70933" cy="3467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422638" y="8331881"/>
            <a:ext cx="3547230" cy="354723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487036" y="0"/>
            <a:ext cx="800964" cy="10287000"/>
            <a:chOff x="0" y="0"/>
            <a:chExt cx="210953" cy="27093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095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0953">
                  <a:moveTo>
                    <a:pt x="0" y="0"/>
                  </a:moveTo>
                  <a:lnTo>
                    <a:pt x="210953" y="0"/>
                  </a:lnTo>
                  <a:lnTo>
                    <a:pt x="21095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7726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1095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853138" y="3032067"/>
            <a:ext cx="14390178" cy="3901319"/>
          </a:xfrm>
          <a:custGeom>
            <a:avLst/>
            <a:gdLst/>
            <a:ahLst/>
            <a:cxnLst/>
            <a:rect r="r" b="b" t="t" l="l"/>
            <a:pathLst>
              <a:path h="3901319" w="14390178">
                <a:moveTo>
                  <a:pt x="0" y="0"/>
                </a:moveTo>
                <a:lnTo>
                  <a:pt x="14390178" y="0"/>
                </a:lnTo>
                <a:lnTo>
                  <a:pt x="14390178" y="3901320"/>
                </a:lnTo>
                <a:lnTo>
                  <a:pt x="0" y="39013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889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178687" y="7158332"/>
            <a:ext cx="11301259" cy="1949467"/>
          </a:xfrm>
          <a:custGeom>
            <a:avLst/>
            <a:gdLst/>
            <a:ahLst/>
            <a:cxnLst/>
            <a:rect r="r" b="b" t="t" l="l"/>
            <a:pathLst>
              <a:path h="1949467" w="11301259">
                <a:moveTo>
                  <a:pt x="0" y="0"/>
                </a:moveTo>
                <a:lnTo>
                  <a:pt x="11301259" y="0"/>
                </a:lnTo>
                <a:lnTo>
                  <a:pt x="11301259" y="1949467"/>
                </a:lnTo>
                <a:lnTo>
                  <a:pt x="0" y="19494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8700" y="1088600"/>
            <a:ext cx="13765929" cy="790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26"/>
              </a:lnSpc>
            </a:pPr>
            <a:r>
              <a:rPr lang="en-US" sz="5739" b="true">
                <a:solidFill>
                  <a:srgbClr val="17726D"/>
                </a:solidFill>
                <a:latin typeface="Inter Bold"/>
                <a:ea typeface="Inter Bold"/>
                <a:cs typeface="Inter Bold"/>
                <a:sym typeface="Inter Bold"/>
              </a:rPr>
              <a:t>UMAP PARAMETER DEMONSTRATION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783854" y="2655512"/>
            <a:ext cx="3710434" cy="290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UMAP Visualization: Parameter Impact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1884503"/>
            <a:ext cx="6397377" cy="421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4"/>
              </a:lnSpc>
              <a:spcBef>
                <a:spcPct val="0"/>
              </a:spcBef>
            </a:pPr>
            <a:r>
              <a:rPr lang="en-US" b="true" sz="2299">
                <a:solidFill>
                  <a:srgbClr val="00444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What Happens When We Change the Settings?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80553" y="-3269085"/>
            <a:ext cx="5402508" cy="540250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744950" y="-659281"/>
            <a:ext cx="1028700" cy="1135661"/>
            <a:chOff x="0" y="0"/>
            <a:chExt cx="270933" cy="2991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99104"/>
            </a:xfrm>
            <a:custGeom>
              <a:avLst/>
              <a:gdLst/>
              <a:ahLst/>
              <a:cxnLst/>
              <a:rect r="r" b="b" t="t" l="l"/>
              <a:pathLst>
                <a:path h="299104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99104"/>
                  </a:lnTo>
                  <a:lnTo>
                    <a:pt x="0" y="299104"/>
                  </a:lnTo>
                  <a:close/>
                </a:path>
              </a:pathLst>
            </a:custGeom>
            <a:solidFill>
              <a:srgbClr val="EAE4D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70933" cy="3467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487036" y="0"/>
            <a:ext cx="800964" cy="10287000"/>
            <a:chOff x="0" y="0"/>
            <a:chExt cx="210953" cy="27093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95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0953">
                  <a:moveTo>
                    <a:pt x="0" y="0"/>
                  </a:moveTo>
                  <a:lnTo>
                    <a:pt x="210953" y="0"/>
                  </a:lnTo>
                  <a:lnTo>
                    <a:pt x="21095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7726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1095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71819" y="2845128"/>
            <a:ext cx="8539957" cy="5910266"/>
          </a:xfrm>
          <a:custGeom>
            <a:avLst/>
            <a:gdLst/>
            <a:ahLst/>
            <a:cxnLst/>
            <a:rect r="r" b="b" t="t" l="l"/>
            <a:pathLst>
              <a:path h="5910266" w="8539957">
                <a:moveTo>
                  <a:pt x="0" y="0"/>
                </a:moveTo>
                <a:lnTo>
                  <a:pt x="8539957" y="0"/>
                </a:lnTo>
                <a:lnTo>
                  <a:pt x="8539957" y="5910266"/>
                </a:lnTo>
                <a:lnTo>
                  <a:pt x="0" y="59102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61" r="0" b="-79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-1422638" y="7627263"/>
            <a:ext cx="4251848" cy="425184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28700" y="1088600"/>
            <a:ext cx="13765929" cy="790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26"/>
              </a:lnSpc>
            </a:pPr>
            <a:r>
              <a:rPr lang="en-US" sz="5739" b="true">
                <a:solidFill>
                  <a:srgbClr val="17726D"/>
                </a:solidFill>
                <a:latin typeface="Inter Bold"/>
                <a:ea typeface="Inter Bold"/>
                <a:cs typeface="Inter Bold"/>
                <a:sym typeface="Inter Bold"/>
              </a:rPr>
              <a:t>PARAMETER IMPACT ON LAYOUT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13801" y="9116464"/>
            <a:ext cx="7798131" cy="141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4"/>
              </a:lnSpc>
              <a:spcBef>
                <a:spcPct val="0"/>
              </a:spcBef>
            </a:pPr>
            <a:r>
              <a:rPr lang="en-US" b="true" sz="745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Figure 5: UMAP projections of a 3D woolly mammoth skeleton (50k points, 10k shown) into 2 dimensions, with various settings for the n_neighbors and min_dist parameters.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395765" y="2331410"/>
            <a:ext cx="2542877" cy="290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Woolly Mammoth Example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11776" y="2740353"/>
            <a:ext cx="8126342" cy="2252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sz="1599" b="true">
                <a:solidFill>
                  <a:srgbClr val="00444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This classic 3D-to-2D projection shows how UMAP preserves shape and clusters.</a:t>
            </a:r>
          </a:p>
          <a:p>
            <a:pPr algn="l" marL="345439" indent="-172720" lvl="1">
              <a:lnSpc>
                <a:spcPts val="3007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Adjusting n_neighbors changes how much of the skeleton UMAP tries to preserve.</a:t>
            </a:r>
          </a:p>
          <a:p>
            <a:pPr algn="l" marL="345439" indent="-172720" lvl="1">
              <a:lnSpc>
                <a:spcPts val="3007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Lower min_dist keeps similar bones closer (like how we want similar companies clustered).</a:t>
            </a:r>
          </a:p>
          <a:p>
            <a:pPr algn="l">
              <a:lnSpc>
                <a:spcPts val="3007"/>
              </a:lnSpc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This analogy helped us understand how clusters in our data emerge.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360694" y="5774384"/>
            <a:ext cx="7660630" cy="3231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7"/>
              </a:lnSpc>
            </a:pPr>
            <a:r>
              <a:rPr lang="en-US" b="true" sz="1599">
                <a:solidFill>
                  <a:srgbClr val="00444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By changing UMAP’s settings, we can control:</a:t>
            </a:r>
          </a:p>
          <a:p>
            <a:pPr algn="l">
              <a:lnSpc>
                <a:spcPts val="3247"/>
              </a:lnSpc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n_neighbors: How much local vs global structure is preserved.</a:t>
            </a:r>
          </a:p>
          <a:p>
            <a:pPr algn="l" marL="345439" indent="-172720" lvl="1">
              <a:lnSpc>
                <a:spcPts val="3247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Lower values (e.g. 5–10) → sharper, small clusters (e.g. niches like biotech).</a:t>
            </a:r>
          </a:p>
          <a:p>
            <a:pPr algn="l" marL="345439" indent="-172720" lvl="1">
              <a:lnSpc>
                <a:spcPts val="3247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Higher values (e.g. 40+) → smoother, broader structure (e.g. major sectors like “Technology”).</a:t>
            </a:r>
          </a:p>
          <a:p>
            <a:pPr algn="l">
              <a:lnSpc>
                <a:spcPts val="3247"/>
              </a:lnSpc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min_dist: How tight or spread out clusters are.</a:t>
            </a:r>
          </a:p>
          <a:p>
            <a:pPr algn="l" marL="345439" indent="-172720" lvl="1">
              <a:lnSpc>
                <a:spcPts val="3247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Low values (e.g. 0.01) → tight, distinct clusters (easier to separate sectors).</a:t>
            </a:r>
          </a:p>
          <a:p>
            <a:pPr algn="l" marL="345439" indent="-172720" lvl="1">
              <a:lnSpc>
                <a:spcPts val="3247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Higher values (e.g. 0.5) → more overlap, less visual separation.</a:t>
            </a:r>
          </a:p>
        </p:txBody>
      </p:sp>
      <p:grpSp>
        <p:nvGrpSpPr>
          <p:cNvPr name="Group 20" id="20"/>
          <p:cNvGrpSpPr/>
          <p:nvPr/>
        </p:nvGrpSpPr>
        <p:grpSpPr>
          <a:xfrm rot="5400000">
            <a:off x="13938008" y="919630"/>
            <a:ext cx="47819" cy="9202449"/>
            <a:chOff x="0" y="0"/>
            <a:chExt cx="12594" cy="242369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594" cy="2423690"/>
            </a:xfrm>
            <a:custGeom>
              <a:avLst/>
              <a:gdLst/>
              <a:ahLst/>
              <a:cxnLst/>
              <a:rect r="r" b="b" t="t" l="l"/>
              <a:pathLst>
                <a:path h="2423690" w="12594">
                  <a:moveTo>
                    <a:pt x="0" y="0"/>
                  </a:moveTo>
                  <a:lnTo>
                    <a:pt x="12594" y="0"/>
                  </a:lnTo>
                  <a:lnTo>
                    <a:pt x="12594" y="2423690"/>
                  </a:lnTo>
                  <a:lnTo>
                    <a:pt x="0" y="2423690"/>
                  </a:lnTo>
                  <a:close/>
                </a:path>
              </a:pathLst>
            </a:custGeom>
            <a:solidFill>
              <a:srgbClr val="17726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2594" cy="24713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80553" y="-3269085"/>
            <a:ext cx="5402508" cy="540250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744950" y="-659281"/>
            <a:ext cx="1028700" cy="1135661"/>
            <a:chOff x="0" y="0"/>
            <a:chExt cx="270933" cy="2991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99104"/>
            </a:xfrm>
            <a:custGeom>
              <a:avLst/>
              <a:gdLst/>
              <a:ahLst/>
              <a:cxnLst/>
              <a:rect r="r" b="b" t="t" l="l"/>
              <a:pathLst>
                <a:path h="299104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99104"/>
                  </a:lnTo>
                  <a:lnTo>
                    <a:pt x="0" y="299104"/>
                  </a:lnTo>
                  <a:close/>
                </a:path>
              </a:pathLst>
            </a:custGeom>
            <a:solidFill>
              <a:srgbClr val="EAE4D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70933" cy="3467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487036" y="0"/>
            <a:ext cx="800964" cy="10287000"/>
            <a:chOff x="0" y="0"/>
            <a:chExt cx="210953" cy="27093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95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0953">
                  <a:moveTo>
                    <a:pt x="0" y="0"/>
                  </a:moveTo>
                  <a:lnTo>
                    <a:pt x="210953" y="0"/>
                  </a:lnTo>
                  <a:lnTo>
                    <a:pt x="21095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7726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1095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pic>
        <p:nvPicPr>
          <p:cNvPr name="Picture 11" id="11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24501" t="13423" r="22818" b="4156"/>
          <a:stretch>
            <a:fillRect/>
          </a:stretch>
        </p:blipFill>
        <p:spPr>
          <a:xfrm flipH="false" flipV="false" rot="0">
            <a:off x="198760" y="3217581"/>
            <a:ext cx="7094219" cy="6243238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 rot="0">
            <a:off x="-1422638" y="8331881"/>
            <a:ext cx="3547230" cy="354723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562512" y="2907049"/>
            <a:ext cx="2251563" cy="3517040"/>
          </a:xfrm>
          <a:custGeom>
            <a:avLst/>
            <a:gdLst/>
            <a:ahLst/>
            <a:cxnLst/>
            <a:rect r="r" b="b" t="t" l="l"/>
            <a:pathLst>
              <a:path h="3517040" w="2251563">
                <a:moveTo>
                  <a:pt x="0" y="0"/>
                </a:moveTo>
                <a:lnTo>
                  <a:pt x="2251563" y="0"/>
                </a:lnTo>
                <a:lnTo>
                  <a:pt x="2251563" y="3517040"/>
                </a:lnTo>
                <a:lnTo>
                  <a:pt x="0" y="35170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aphicFrame>
        <p:nvGraphicFramePr>
          <p:cNvPr name="Table 16" id="16"/>
          <p:cNvGraphicFramePr>
            <a:graphicFrameLocks noGrp="true"/>
          </p:cNvGraphicFramePr>
          <p:nvPr/>
        </p:nvGraphicFramePr>
        <p:xfrm>
          <a:off x="9381214" y="2606047"/>
          <a:ext cx="7151017" cy="6090344"/>
        </p:xfrm>
        <a:graphic>
          <a:graphicData uri="http://schemas.openxmlformats.org/drawingml/2006/table">
            <a:tbl>
              <a:tblPr/>
              <a:tblGrid>
                <a:gridCol w="7018749"/>
              </a:tblGrid>
              <a:tr h="205971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7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Open Sans Medium"/>
                          <a:ea typeface="Open Sans Medium"/>
                          <a:cs typeface="Open Sans Medium"/>
                          <a:sym typeface="Open Sans Medium"/>
                        </a:rPr>
                        <a:t>In our project:</a:t>
                      </a:r>
                      <a:endParaRPr lang="en-US" sz="1100"/>
                    </a:p>
                    <a:p>
                      <a:pPr algn="just" marL="323850" indent="-161925" lvl="1">
                        <a:lnSpc>
                          <a:spcPts val="2700"/>
                        </a:lnSpc>
                        <a:buFont typeface="Arial"/>
                        <a:buChar char="•"/>
                      </a:pPr>
                      <a:r>
                        <a:rPr lang="en-US" b="true" sz="1500">
                          <a:solidFill>
                            <a:srgbClr val="000000"/>
                          </a:solidFill>
                          <a:latin typeface="Open Sans Medium"/>
                          <a:ea typeface="Open Sans Medium"/>
                          <a:cs typeface="Open Sans Medium"/>
                          <a:sym typeface="Open Sans Medium"/>
                        </a:rPr>
                        <a:t>n_neighbors = 40 gave us a balance between detailed clusters </a:t>
                      </a:r>
                    </a:p>
                    <a:p>
                      <a:pPr algn="just">
                        <a:lnSpc>
                          <a:spcPts val="2700"/>
                        </a:lnSpc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Open Sans Medium"/>
                          <a:ea typeface="Open Sans Medium"/>
                          <a:cs typeface="Open Sans Medium"/>
                          <a:sym typeface="Open Sans Medium"/>
                        </a:rPr>
                        <a:t>      and broader sector layout</a:t>
                      </a:r>
                    </a:p>
                    <a:p>
                      <a:pPr algn="just" marL="323850" indent="-161925" lvl="1">
                        <a:lnSpc>
                          <a:spcPts val="2700"/>
                        </a:lnSpc>
                        <a:buFont typeface="Arial"/>
                        <a:buChar char="•"/>
                      </a:pPr>
                      <a:r>
                        <a:rPr lang="en-US" b="true" sz="1500">
                          <a:solidFill>
                            <a:srgbClr val="000000"/>
                          </a:solidFill>
                          <a:latin typeface="Open Sans Medium"/>
                          <a:ea typeface="Open Sans Medium"/>
                          <a:cs typeface="Open Sans Medium"/>
                          <a:sym typeface="Open Sans Medium"/>
                        </a:rPr>
                        <a:t>min_dist = 0.01 created tight clusters where meaningful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89033">
                <a:tc>
                  <a:txBody>
                    <a:bodyPr anchor="t" rtlCol="false"/>
                    <a:lstStyle/>
                    <a:p>
                      <a:pPr algn="l" marL="323850" indent="-161925" lvl="1">
                        <a:lnSpc>
                          <a:spcPts val="27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Clear separation emerged for ETFs, Utilities, Real Estate</a:t>
                      </a:r>
                      <a:endParaRPr lang="en-US" sz="1100"/>
                    </a:p>
                    <a:p>
                      <a:pPr algn="l" marL="323850" indent="-161925" lvl="1">
                        <a:lnSpc>
                          <a:spcPts val="2700"/>
                        </a:lnSpc>
                        <a:buFont typeface="Arial"/>
                        <a:buChar char="•"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Some sectors like Technology and Discretionary showed blending — which reflects real-world overlaps in business models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4159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65"/>
                        </a:lnSpc>
                        <a:defRPr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Key Takeaways:</a:t>
                      </a:r>
                      <a:endParaRPr lang="en-US" sz="1100"/>
                    </a:p>
                    <a:p>
                      <a:pPr algn="l" marL="323850" indent="-161925" lvl="1">
                        <a:lnSpc>
                          <a:spcPts val="2565"/>
                        </a:lnSpc>
                        <a:buFont typeface="Arial"/>
                        <a:buChar char="•"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UMAP is a powerful way to visualize complex text data</a:t>
                      </a:r>
                    </a:p>
                    <a:p>
                      <a:pPr algn="l" marL="323850" indent="-161925" lvl="1">
                        <a:lnSpc>
                          <a:spcPts val="2565"/>
                        </a:lnSpc>
                        <a:buFont typeface="Arial"/>
                        <a:buChar char="•"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Parameter tuning is critical for seeing meaningful structure</a:t>
                      </a:r>
                    </a:p>
                    <a:p>
                      <a:pPr algn="l" marL="323850" indent="-161925" lvl="1">
                        <a:lnSpc>
                          <a:spcPts val="2565"/>
                        </a:lnSpc>
                        <a:buFont typeface="Arial"/>
                        <a:buChar char="•"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 our case, balanced UMAP settings revealed natural sector groupings</a:t>
                      </a:r>
                    </a:p>
                    <a:p>
                      <a:pPr algn="l" marL="323850" indent="-161925" lvl="1">
                        <a:lnSpc>
                          <a:spcPts val="2565"/>
                        </a:lnSpc>
                        <a:buFont typeface="Arial"/>
                        <a:buChar char="•"/>
                      </a:pPr>
                      <a:r>
                        <a:rPr lang="en-US" sz="15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It helped us transform text into actionable business insight</a:t>
                      </a:r>
                    </a:p>
                  </a:txBody>
                  <a:tcPr marL="190500" marR="190500" marT="190500" marB="190500" anchor="t">
                    <a:lnL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726D"/>
                    </a:solidFill>
                  </a:tcPr>
                </a:tc>
              </a:tr>
            </a:tbl>
          </a:graphicData>
        </a:graphic>
      </p:graphicFrame>
      <p:sp>
        <p:nvSpPr>
          <p:cNvPr name="TextBox 17" id="17"/>
          <p:cNvSpPr txBox="true"/>
          <p:nvPr/>
        </p:nvSpPr>
        <p:spPr>
          <a:xfrm rot="0">
            <a:off x="1028700" y="1088600"/>
            <a:ext cx="15325666" cy="790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26"/>
              </a:lnSpc>
            </a:pPr>
            <a:r>
              <a:rPr lang="en-US" sz="5739" b="true">
                <a:solidFill>
                  <a:srgbClr val="17726D"/>
                </a:solidFill>
                <a:latin typeface="Inter Bold"/>
                <a:ea typeface="Inter Bold"/>
                <a:cs typeface="Inter Bold"/>
                <a:sym typeface="Inter Bold"/>
              </a:rPr>
              <a:t>APPLYING UMAP TO BUSINESS SECTORS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792890" y="2737821"/>
            <a:ext cx="1338262" cy="290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3D </a:t>
            </a: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UMAP plot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68798" y="1884503"/>
            <a:ext cx="5754588" cy="421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4"/>
              </a:lnSpc>
              <a:spcBef>
                <a:spcPct val="0"/>
              </a:spcBef>
            </a:pPr>
            <a:r>
              <a:rPr lang="en-US" b="true" sz="2299">
                <a:solidFill>
                  <a:srgbClr val="00444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What This Means for Sector Visualization?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61469" y="4659854"/>
            <a:ext cx="1858299" cy="0"/>
          </a:xfrm>
          <a:prstGeom prst="line">
            <a:avLst/>
          </a:prstGeom>
          <a:ln cap="flat" w="76200">
            <a:solidFill>
              <a:srgbClr val="EAE4D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-3372308" y="-2265224"/>
            <a:ext cx="5402508" cy="540250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367495" y="1028700"/>
            <a:ext cx="4273752" cy="427375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07712" y="4019443"/>
            <a:ext cx="7249671" cy="701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 spc="14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VISUALIZATIONS ANALYSIS WITH INSIGHTS</a:t>
            </a:r>
          </a:p>
          <a:p>
            <a:pPr algn="l" marL="0" indent="0" lvl="0">
              <a:lnSpc>
                <a:spcPts val="2800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8241623" y="-288942"/>
            <a:ext cx="10046377" cy="10838901"/>
            <a:chOff x="0" y="0"/>
            <a:chExt cx="2645959" cy="28546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645959" cy="2854690"/>
            </a:xfrm>
            <a:custGeom>
              <a:avLst/>
              <a:gdLst/>
              <a:ahLst/>
              <a:cxnLst/>
              <a:rect r="r" b="b" t="t" l="l"/>
              <a:pathLst>
                <a:path h="2854690" w="2645959">
                  <a:moveTo>
                    <a:pt x="0" y="0"/>
                  </a:moveTo>
                  <a:lnTo>
                    <a:pt x="2645959" y="0"/>
                  </a:lnTo>
                  <a:lnTo>
                    <a:pt x="2645959" y="2854690"/>
                  </a:lnTo>
                  <a:lnTo>
                    <a:pt x="0" y="2854690"/>
                  </a:lnTo>
                  <a:close/>
                </a:path>
              </a:pathLst>
            </a:custGeom>
            <a:solidFill>
              <a:srgbClr val="17726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645959" cy="29023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14016" y="5302452"/>
            <a:ext cx="8018152" cy="4510210"/>
          </a:xfrm>
          <a:custGeom>
            <a:avLst/>
            <a:gdLst/>
            <a:ahLst/>
            <a:cxnLst/>
            <a:rect r="r" b="b" t="t" l="l"/>
            <a:pathLst>
              <a:path h="4510210" w="8018152">
                <a:moveTo>
                  <a:pt x="0" y="0"/>
                </a:moveTo>
                <a:lnTo>
                  <a:pt x="8018152" y="0"/>
                </a:lnTo>
                <a:lnTo>
                  <a:pt x="8018152" y="4510210"/>
                </a:lnTo>
                <a:lnTo>
                  <a:pt x="0" y="45102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61469" y="2901208"/>
            <a:ext cx="7342157" cy="994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0"/>
              </a:lnSpc>
            </a:pPr>
            <a:r>
              <a:rPr lang="en-US" sz="7200" b="true">
                <a:solidFill>
                  <a:srgbClr val="17726D"/>
                </a:solidFill>
                <a:latin typeface="Inter Bold"/>
                <a:ea typeface="Inter Bold"/>
                <a:cs typeface="Inter Bold"/>
                <a:sym typeface="Inter Bold"/>
              </a:rPr>
              <a:t>PART 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755973" y="2814064"/>
            <a:ext cx="9017677" cy="3680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0"/>
              </a:lnSpc>
            </a:pPr>
            <a:r>
              <a:rPr lang="en-US" sz="30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1.Apply UMAP to create 2D visualizations of the business description embeddings </a:t>
            </a:r>
          </a:p>
          <a:p>
            <a:pPr algn="l">
              <a:lnSpc>
                <a:spcPts val="4920"/>
              </a:lnSpc>
            </a:pPr>
          </a:p>
          <a:p>
            <a:pPr algn="l">
              <a:lnSpc>
                <a:spcPts val="4920"/>
              </a:lnSpc>
            </a:pPr>
            <a:r>
              <a:rPr lang="en-US" sz="30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2.Sector and Industry-Level Clustering Analysis</a:t>
            </a:r>
          </a:p>
          <a:p>
            <a:pPr algn="l">
              <a:lnSpc>
                <a:spcPts val="4920"/>
              </a:lnSpc>
            </a:pPr>
          </a:p>
          <a:p>
            <a:pPr algn="l">
              <a:lnSpc>
                <a:spcPts val="4920"/>
              </a:lnSpc>
            </a:pPr>
            <a:r>
              <a:rPr lang="en-US" sz="30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3.Additional Analysis: Cross-Sector Similarities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80553" y="-3269085"/>
            <a:ext cx="5402508" cy="540250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230600" y="-413007"/>
            <a:ext cx="1028700" cy="1135661"/>
            <a:chOff x="0" y="0"/>
            <a:chExt cx="270933" cy="2991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99104"/>
            </a:xfrm>
            <a:custGeom>
              <a:avLst/>
              <a:gdLst/>
              <a:ahLst/>
              <a:cxnLst/>
              <a:rect r="r" b="b" t="t" l="l"/>
              <a:pathLst>
                <a:path h="299104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99104"/>
                  </a:lnTo>
                  <a:lnTo>
                    <a:pt x="0" y="299104"/>
                  </a:lnTo>
                  <a:close/>
                </a:path>
              </a:pathLst>
            </a:custGeom>
            <a:solidFill>
              <a:srgbClr val="EAE4D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70933" cy="3467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487036" y="0"/>
            <a:ext cx="800964" cy="10287000"/>
            <a:chOff x="0" y="0"/>
            <a:chExt cx="210953" cy="27093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95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0953">
                  <a:moveTo>
                    <a:pt x="0" y="0"/>
                  </a:moveTo>
                  <a:lnTo>
                    <a:pt x="210953" y="0"/>
                  </a:lnTo>
                  <a:lnTo>
                    <a:pt x="21095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7726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1095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2876859" y="8713176"/>
            <a:ext cx="5213044" cy="521304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0" y="1951862"/>
            <a:ext cx="17487036" cy="3803430"/>
          </a:xfrm>
          <a:custGeom>
            <a:avLst/>
            <a:gdLst/>
            <a:ahLst/>
            <a:cxnLst/>
            <a:rect r="r" b="b" t="t" l="l"/>
            <a:pathLst>
              <a:path h="3803430" w="17487036">
                <a:moveTo>
                  <a:pt x="0" y="0"/>
                </a:moveTo>
                <a:lnTo>
                  <a:pt x="17487036" y="0"/>
                </a:lnTo>
                <a:lnTo>
                  <a:pt x="17487036" y="3803431"/>
                </a:lnTo>
                <a:lnTo>
                  <a:pt x="0" y="38034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770279"/>
            <a:ext cx="14237824" cy="1099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3"/>
              </a:lnSpc>
            </a:pPr>
            <a:r>
              <a:rPr lang="en-US" sz="4031" b="true">
                <a:solidFill>
                  <a:srgbClr val="17726D"/>
                </a:solidFill>
                <a:latin typeface="Inter Bold"/>
                <a:ea typeface="Inter Bold"/>
                <a:cs typeface="Inter Bold"/>
                <a:sym typeface="Inter Bold"/>
              </a:rPr>
              <a:t>APPLY UMAP TO CREATE 2D VISUALIZATIONS OF THE BUSINESS DESCRIPTION EMBEDDINGS (BY SECTOR)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34765" y="5610510"/>
            <a:ext cx="16424535" cy="3981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4"/>
              </a:lnSpc>
              <a:spcBef>
                <a:spcPct val="0"/>
              </a:spcBef>
            </a:pPr>
            <a:r>
              <a:rPr lang="en-US" b="true" sz="2699">
                <a:solidFill>
                  <a:srgbClr val="17726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Observations:</a:t>
            </a:r>
          </a:p>
          <a:p>
            <a:pPr algn="l">
              <a:lnSpc>
                <a:spcPts val="247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 Clear sector-level clustering is visible:</a:t>
            </a:r>
          </a:p>
          <a:p>
            <a:pPr algn="l" marL="345439" indent="-172720" lvl="1">
              <a:lnSpc>
                <a:spcPts val="24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ETFs form a compact, isolated cluster in the lower-left — likely due to consistent phrasing like “seeks to track index” and “fund objective.”</a:t>
            </a:r>
          </a:p>
          <a:p>
            <a:pPr algn="l" marL="345439" indent="-172720" lvl="1">
              <a:lnSpc>
                <a:spcPts val="24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Technology, Healthcare, and Financials exhibit well-formed clusters, reflecting dense and specific industry language.</a:t>
            </a:r>
          </a:p>
          <a:p>
            <a:pPr algn="l" marL="345439" indent="-172720" lvl="1">
              <a:lnSpc>
                <a:spcPts val="24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Utilities and Energy also show tight local groupings, suggesting strong semantic cohesion within those industries.</a:t>
            </a:r>
          </a:p>
          <a:p>
            <a:pPr algn="l">
              <a:lnSpc>
                <a:spcPts val="2479"/>
              </a:lnSpc>
              <a:spcBef>
                <a:spcPct val="0"/>
              </a:spcBef>
            </a:pPr>
          </a:p>
          <a:p>
            <a:pPr algn="l">
              <a:lnSpc>
                <a:spcPts val="247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 Overlap exists between sectors with similar business models:</a:t>
            </a:r>
          </a:p>
          <a:p>
            <a:pPr algn="l" marL="345439" indent="-172720" lvl="1">
              <a:lnSpc>
                <a:spcPts val="24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Consumer Discretionary and Industrials are partially entangled, as both may involve manufacturing, retail, and logistics terms.</a:t>
            </a:r>
          </a:p>
          <a:p>
            <a:pPr algn="l" marL="345439" indent="-172720" lvl="1">
              <a:lnSpc>
                <a:spcPts val="24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Unknown labels appear scattered, indicating poor embedding consistency or insufficient description data.</a:t>
            </a:r>
          </a:p>
          <a:p>
            <a:pPr algn="l">
              <a:lnSpc>
                <a:spcPts val="2479"/>
              </a:lnSpc>
              <a:spcBef>
                <a:spcPct val="0"/>
              </a:spcBef>
            </a:pPr>
          </a:p>
          <a:p>
            <a:pPr algn="l">
              <a:lnSpc>
                <a:spcPts val="247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3. Global structure is preserved thanks to n_neighbors=40, while tight intra-sector clustering is emphasized by min_dist=0.01.</a:t>
            </a:r>
          </a:p>
          <a:p>
            <a:pPr algn="l">
              <a:lnSpc>
                <a:spcPts val="24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044154"/>
            <a:ext cx="17487036" cy="3803430"/>
          </a:xfrm>
          <a:custGeom>
            <a:avLst/>
            <a:gdLst/>
            <a:ahLst/>
            <a:cxnLst/>
            <a:rect r="r" b="b" t="t" l="l"/>
            <a:pathLst>
              <a:path h="3803430" w="17487036">
                <a:moveTo>
                  <a:pt x="0" y="0"/>
                </a:moveTo>
                <a:lnTo>
                  <a:pt x="17487036" y="0"/>
                </a:lnTo>
                <a:lnTo>
                  <a:pt x="17487036" y="3803431"/>
                </a:lnTo>
                <a:lnTo>
                  <a:pt x="0" y="38034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770279"/>
            <a:ext cx="14237824" cy="1099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3"/>
              </a:lnSpc>
            </a:pPr>
            <a:r>
              <a:rPr lang="en-US" sz="4031" b="true">
                <a:solidFill>
                  <a:srgbClr val="17726D"/>
                </a:solidFill>
                <a:latin typeface="Inter Bold"/>
                <a:ea typeface="Inter Bold"/>
                <a:cs typeface="Inter Bold"/>
                <a:sym typeface="Inter Bold"/>
              </a:rPr>
              <a:t>APPLY UMAP TO CREATE 2D VISUALIZATIONS OF THE BUSINESS DESCRIPTION EMBEDDINGS (BY INDUSTRY)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7487036" y="0"/>
            <a:ext cx="800964" cy="10287000"/>
            <a:chOff x="0" y="0"/>
            <a:chExt cx="210953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95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0953">
                  <a:moveTo>
                    <a:pt x="0" y="0"/>
                  </a:moveTo>
                  <a:lnTo>
                    <a:pt x="210953" y="0"/>
                  </a:lnTo>
                  <a:lnTo>
                    <a:pt x="21095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7726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1095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34765" y="5610510"/>
            <a:ext cx="16424535" cy="4296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4"/>
              </a:lnSpc>
              <a:spcBef>
                <a:spcPct val="0"/>
              </a:spcBef>
            </a:pPr>
            <a:r>
              <a:rPr lang="en-US" b="true" sz="2699">
                <a:solidFill>
                  <a:srgbClr val="17726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Observations:</a:t>
            </a:r>
          </a:p>
          <a:p>
            <a:pPr algn="l">
              <a:lnSpc>
                <a:spcPts val="247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 Tight Industry Clusters: </a:t>
            </a: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Etf, Health Care, and Oil &amp; Gas companies are clearly isolated and tightly packed.</a:t>
            </a:r>
          </a:p>
          <a:p>
            <a:pPr algn="l">
              <a:lnSpc>
                <a:spcPts val="247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This indicates highly consistent language across those industries (e.g., “fund seeks to track index” or “petroleum production and refining”).</a:t>
            </a:r>
          </a:p>
          <a:p>
            <a:pPr algn="l">
              <a:lnSpc>
                <a:spcPts val="2479"/>
              </a:lnSpc>
              <a:spcBef>
                <a:spcPct val="0"/>
              </a:spcBef>
            </a:pPr>
          </a:p>
          <a:p>
            <a:pPr algn="l">
              <a:lnSpc>
                <a:spcPts val="247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 These two industries — </a:t>
            </a: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both under the broader Technology sector — form distinct clusters.</a:t>
            </a:r>
          </a:p>
          <a:p>
            <a:pPr algn="l">
              <a:lnSpc>
                <a:spcPts val="247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This shows that UMAP successfully captures nuanced differences between:</a:t>
            </a:r>
          </a:p>
          <a:p>
            <a:pPr algn="l" marL="345439" indent="-172720" lvl="1">
              <a:lnSpc>
                <a:spcPts val="2479"/>
              </a:lnSpc>
              <a:spcBef>
                <a:spcPct val="0"/>
              </a:spcBef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Service/platform-focused language ("cloud", "API", "software")</a:t>
            </a:r>
          </a:p>
          <a:p>
            <a:pPr algn="l" marL="345439" indent="-172720" lvl="1">
              <a:lnSpc>
                <a:spcPts val="2479"/>
              </a:lnSpc>
              <a:spcBef>
                <a:spcPct val="0"/>
              </a:spcBef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Hardware-focused terminology ("semiconductors", "processors", "devices")</a:t>
            </a:r>
          </a:p>
          <a:p>
            <a:pPr algn="l">
              <a:lnSpc>
                <a:spcPts val="2479"/>
              </a:lnSpc>
              <a:spcBef>
                <a:spcPct val="0"/>
              </a:spcBef>
            </a:pPr>
          </a:p>
          <a:p>
            <a:pPr algn="l">
              <a:lnSpc>
                <a:spcPts val="247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3. Retail &amp; Consumer Product Fragmentation:</a:t>
            </a: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Industries like Retail &amp; Wholesale (Discretionary vs. Staples) and Consumer Discretionary Products appear more scattered.</a:t>
            </a:r>
          </a:p>
          <a:p>
            <a:pPr algn="l">
              <a:lnSpc>
                <a:spcPts val="247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4. Financial Services &amp; Banking: </a:t>
            </a: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Insurance, Financial Services, and Banking all show related but distinct positioning, indicating shared terminology (e.g., “risk,” “credit,” “products”) with differences in specific offerings like “lending” or “underwriting.”</a:t>
            </a:r>
          </a:p>
          <a:p>
            <a:pPr algn="l">
              <a:lnSpc>
                <a:spcPts val="247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5. Unknown Industry Scatter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87036" y="0"/>
            <a:ext cx="800964" cy="10287000"/>
            <a:chOff x="0" y="0"/>
            <a:chExt cx="21095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95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0953">
                  <a:moveTo>
                    <a:pt x="0" y="0"/>
                  </a:moveTo>
                  <a:lnTo>
                    <a:pt x="210953" y="0"/>
                  </a:lnTo>
                  <a:lnTo>
                    <a:pt x="21095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7726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1095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37393" y="3617962"/>
            <a:ext cx="8242919" cy="1792835"/>
          </a:xfrm>
          <a:custGeom>
            <a:avLst/>
            <a:gdLst/>
            <a:ahLst/>
            <a:cxnLst/>
            <a:rect r="r" b="b" t="t" l="l"/>
            <a:pathLst>
              <a:path h="1792835" w="8242919">
                <a:moveTo>
                  <a:pt x="0" y="0"/>
                </a:moveTo>
                <a:lnTo>
                  <a:pt x="8242918" y="0"/>
                </a:lnTo>
                <a:lnTo>
                  <a:pt x="8242918" y="1792835"/>
                </a:lnTo>
                <a:lnTo>
                  <a:pt x="0" y="17928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37393" y="5582592"/>
            <a:ext cx="8242919" cy="1792835"/>
          </a:xfrm>
          <a:custGeom>
            <a:avLst/>
            <a:gdLst/>
            <a:ahLst/>
            <a:cxnLst/>
            <a:rect r="r" b="b" t="t" l="l"/>
            <a:pathLst>
              <a:path h="1792835" w="8242919">
                <a:moveTo>
                  <a:pt x="0" y="0"/>
                </a:moveTo>
                <a:lnTo>
                  <a:pt x="8242918" y="0"/>
                </a:lnTo>
                <a:lnTo>
                  <a:pt x="8242918" y="1792835"/>
                </a:lnTo>
                <a:lnTo>
                  <a:pt x="0" y="17928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770279"/>
            <a:ext cx="14237824" cy="564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3"/>
              </a:lnSpc>
            </a:pPr>
            <a:r>
              <a:rPr lang="en-US" sz="4031" b="true">
                <a:solidFill>
                  <a:srgbClr val="17726D"/>
                </a:solidFill>
                <a:latin typeface="Inter Bold"/>
                <a:ea typeface="Inter Bold"/>
                <a:cs typeface="Inter Bold"/>
                <a:sym typeface="Inter Bold"/>
              </a:rPr>
              <a:t>DIFFERENCES BETWEEN INDUSTRY &amp; SECTOR</a:t>
            </a:r>
          </a:p>
        </p:txBody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8839435" y="2722336"/>
          <a:ext cx="8288478" cy="5376922"/>
        </p:xfrm>
        <a:graphic>
          <a:graphicData uri="http://schemas.openxmlformats.org/drawingml/2006/table">
            <a:tbl>
              <a:tblPr/>
              <a:tblGrid>
                <a:gridCol w="2350641"/>
                <a:gridCol w="2933248"/>
                <a:gridCol w="3004588"/>
              </a:tblGrid>
              <a:tr h="671508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160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Feature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4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160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Sector UMAP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4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160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Industry UMAP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41"/>
                    </a:solidFill>
                  </a:tcPr>
                </a:tc>
              </a:tr>
              <a:tr h="94011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Color Groups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4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11–12 broad categories (e.g., Technology, Energy, Healthcare)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20+ fine-grained subgroups (e.g., Software &amp; Tech Services, Oil &amp; Gas)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011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Granularity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4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endParaRPr lang="en-US" sz="1100"/>
                    </a:p>
                    <a:p>
                      <a:pPr algn="l">
                        <a:lnSpc>
                          <a:spcPts val="2160"/>
                        </a:lnSpc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High-level classification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More specific, detail-rich classification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011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Cluster Shape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4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Larger, smoother blobs (each sector contains many industries)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More scattered points and tighter sub-clusters within sectors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011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Interpretation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4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Good for spotting macro patterns across the market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Ideal for discovering industry-specific similarities/outliers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49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Use Case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4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Sector-level segmentation, marketing strategy, fund analysis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Industry benchmarking, niche competitor analysis, deep dives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1772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87036" y="0"/>
            <a:ext cx="800964" cy="10287000"/>
            <a:chOff x="0" y="0"/>
            <a:chExt cx="21095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95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0953">
                  <a:moveTo>
                    <a:pt x="0" y="0"/>
                  </a:moveTo>
                  <a:lnTo>
                    <a:pt x="210953" y="0"/>
                  </a:lnTo>
                  <a:lnTo>
                    <a:pt x="21095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7726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1095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770279"/>
            <a:ext cx="14237824" cy="1099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3"/>
              </a:lnSpc>
            </a:pPr>
            <a:r>
              <a:rPr lang="en-US" sz="4031" b="true">
                <a:solidFill>
                  <a:srgbClr val="17726D"/>
                </a:solidFill>
                <a:latin typeface="Inter Bold"/>
                <a:ea typeface="Inter Bold"/>
                <a:cs typeface="Inter Bold"/>
                <a:sym typeface="Inter Bold"/>
              </a:rPr>
              <a:t>APPLY UMAP TO CREATE 3D VISUALIZATIONS OF THE BUSINESS DESCRIPTION EMBEDDINGS (BY SECTOR)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035698" y="3281210"/>
            <a:ext cx="2432670" cy="3724580"/>
          </a:xfrm>
          <a:custGeom>
            <a:avLst/>
            <a:gdLst/>
            <a:ahLst/>
            <a:cxnLst/>
            <a:rect r="r" b="b" t="t" l="l"/>
            <a:pathLst>
              <a:path h="3724580" w="2432670">
                <a:moveTo>
                  <a:pt x="0" y="0"/>
                </a:moveTo>
                <a:lnTo>
                  <a:pt x="2432670" y="0"/>
                </a:lnTo>
                <a:lnTo>
                  <a:pt x="2432670" y="3724580"/>
                </a:lnTo>
                <a:lnTo>
                  <a:pt x="0" y="37245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28168" t="-28947" r="0" b="-91175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00112" y="1800621"/>
            <a:ext cx="6135586" cy="6533367"/>
          </a:xfrm>
          <a:custGeom>
            <a:avLst/>
            <a:gdLst/>
            <a:ahLst/>
            <a:cxnLst/>
            <a:rect r="r" b="b" t="t" l="l"/>
            <a:pathLst>
              <a:path h="6533367" w="6135586">
                <a:moveTo>
                  <a:pt x="0" y="0"/>
                </a:moveTo>
                <a:lnTo>
                  <a:pt x="6135586" y="0"/>
                </a:lnTo>
                <a:lnTo>
                  <a:pt x="6135586" y="6533367"/>
                </a:lnTo>
                <a:lnTo>
                  <a:pt x="0" y="6533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8507" t="-19775" r="-224114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721491" y="2239504"/>
            <a:ext cx="7512422" cy="6497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4"/>
              </a:lnSpc>
              <a:spcBef>
                <a:spcPct val="0"/>
              </a:spcBef>
            </a:pPr>
            <a:r>
              <a:rPr lang="en-US" b="true" sz="2699">
                <a:solidFill>
                  <a:srgbClr val="17726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Observations:</a:t>
            </a:r>
          </a:p>
          <a:p>
            <a:pPr algn="l">
              <a:lnSpc>
                <a:spcPts val="247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 Enhanced Depth with 3D Clustering</a:t>
            </a:r>
          </a:p>
          <a:p>
            <a:pPr algn="l" marL="345439" indent="-172720" lvl="1">
              <a:lnSpc>
                <a:spcPts val="24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The additional dimension helps separate overlapping clusters that appeared tightly packed in 2D.</a:t>
            </a:r>
          </a:p>
          <a:p>
            <a:pPr algn="l" marL="345439" indent="-172720" lvl="1">
              <a:lnSpc>
                <a:spcPts val="24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Sectors like Technology, Financials, and Health Care show stronger separation in 3D space, reducing visual overlap and aiding interpretability.</a:t>
            </a:r>
          </a:p>
          <a:p>
            <a:pPr algn="l">
              <a:lnSpc>
                <a:spcPts val="2479"/>
              </a:lnSpc>
              <a:spcBef>
                <a:spcPct val="0"/>
              </a:spcBef>
            </a:pPr>
          </a:p>
          <a:p>
            <a:pPr algn="l">
              <a:lnSpc>
                <a:spcPts val="247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 Isolated ETF Cluster</a:t>
            </a:r>
          </a:p>
          <a:p>
            <a:pPr algn="l" marL="345439" indent="-172720" lvl="1">
              <a:lnSpc>
                <a:spcPts val="24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ETFs remain highly concentrated in one corner, consistent with their repetitive and structured descriptions (e.g., “tracks index,” “fund objective”).</a:t>
            </a:r>
          </a:p>
          <a:p>
            <a:pPr algn="l" marL="345439" indent="-172720" lvl="1">
              <a:lnSpc>
                <a:spcPts val="24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This confirms they are linguistically unique, making them easily separable.</a:t>
            </a:r>
          </a:p>
          <a:p>
            <a:pPr algn="l">
              <a:lnSpc>
                <a:spcPts val="2479"/>
              </a:lnSpc>
              <a:spcBef>
                <a:spcPct val="0"/>
              </a:spcBef>
            </a:pPr>
          </a:p>
          <a:p>
            <a:pPr algn="l">
              <a:lnSpc>
                <a:spcPts val="247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3. Dispersed “Unknown” &amp; Mixed Sectors</a:t>
            </a:r>
          </a:p>
          <a:p>
            <a:pPr algn="l" marL="345439" indent="-172720" lvl="1">
              <a:lnSpc>
                <a:spcPts val="24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Companies with “Unknown” sector labels are scattered across the embedding space, sometimes mingling with known clusters.</a:t>
            </a:r>
          </a:p>
          <a:p>
            <a:pPr algn="l" marL="345439" indent="-172720" lvl="1">
              <a:lnSpc>
                <a:spcPts val="24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This highlights that some “unknown” companies may semantically resemble real sectors — a potential opportunity to infer missing labels from proximity.</a:t>
            </a:r>
          </a:p>
          <a:p>
            <a:pPr algn="l">
              <a:lnSpc>
                <a:spcPts val="247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160244" y="7624188"/>
            <a:ext cx="6762719" cy="2177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The third dimension adds critical space for UMAP to preserve both local detail and global structure, allowing tight sub-clusters to co-exist without flattening or crowding. This makes 3D UMAP especially valuable for:</a:t>
            </a:r>
          </a:p>
          <a:p>
            <a:pPr algn="l" marL="345439" indent="-172720" lvl="1">
              <a:lnSpc>
                <a:spcPts val="247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Detecting subtle industry shifts</a:t>
            </a:r>
          </a:p>
          <a:p>
            <a:pPr algn="l" marL="345439" indent="-172720" lvl="1">
              <a:lnSpc>
                <a:spcPts val="247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Exploring hybrid companies (e.g., Fintech)</a:t>
            </a:r>
          </a:p>
          <a:p>
            <a:pPr algn="l" marL="345439" indent="-172720" lvl="1">
              <a:lnSpc>
                <a:spcPts val="247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Creating immersive presentations of business similarity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87889"/>
            <a:ext cx="9830890" cy="1099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3"/>
              </a:lnSpc>
            </a:pPr>
            <a:r>
              <a:rPr lang="en-US" sz="4031" b="true">
                <a:solidFill>
                  <a:srgbClr val="17726D"/>
                </a:solidFill>
                <a:latin typeface="Inter Bold"/>
                <a:ea typeface="Inter Bold"/>
                <a:cs typeface="Inter Bold"/>
                <a:sym typeface="Inter Bold"/>
              </a:rPr>
              <a:t>IDENTIFY AND INVESTIGATE INTERESTING PATTERNS OR OUTLIERS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659825"/>
            <a:ext cx="16230600" cy="2111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463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Oil</a:t>
            </a: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&amp; Gas Companies Dominate Outliers Many outliers belong to the Energy sector, especially the Oil &amp; Gas industry, such as: CVX (Chevron), XOM (ExxonMobil), EOG, FANG, PTR, SNP</a:t>
            </a:r>
          </a:p>
          <a:p>
            <a:pPr algn="l">
              <a:lnSpc>
                <a:spcPts val="2463"/>
              </a:lnSpc>
            </a:pPr>
          </a:p>
          <a:p>
            <a:pPr algn="l" marL="345439" indent="-172720" lvl="1">
              <a:lnSpc>
                <a:spcPts val="2463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Unknown Sector/Industry Labels Several companies have Unknown for both Sector and Industry, such as: SHLX, OAS, SN, CEO, IMO</a:t>
            </a:r>
          </a:p>
          <a:p>
            <a:pPr algn="l">
              <a:lnSpc>
                <a:spcPts val="2463"/>
              </a:lnSpc>
            </a:pPr>
          </a:p>
          <a:p>
            <a:pPr algn="l" marL="345439" indent="-172720" lvl="1">
              <a:lnSpc>
                <a:spcPts val="2463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Marine Transportation Company as a Unique Outlier: KEX (Kirby Corporation) — an Industrial company specializing in marine barges</a:t>
            </a:r>
          </a:p>
          <a:p>
            <a:pPr algn="l">
              <a:lnSpc>
                <a:spcPts val="2463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00482" y="5468008"/>
            <a:ext cx="17487036" cy="3803430"/>
          </a:xfrm>
          <a:custGeom>
            <a:avLst/>
            <a:gdLst/>
            <a:ahLst/>
            <a:cxnLst/>
            <a:rect r="r" b="b" t="t" l="l"/>
            <a:pathLst>
              <a:path h="3803430" w="17487036">
                <a:moveTo>
                  <a:pt x="0" y="0"/>
                </a:moveTo>
                <a:lnTo>
                  <a:pt x="17487036" y="0"/>
                </a:lnTo>
                <a:lnTo>
                  <a:pt x="17487036" y="3803431"/>
                </a:lnTo>
                <a:lnTo>
                  <a:pt x="0" y="38034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87036" y="0"/>
            <a:ext cx="800964" cy="10287000"/>
            <a:chOff x="0" y="0"/>
            <a:chExt cx="21095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95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0953">
                  <a:moveTo>
                    <a:pt x="0" y="0"/>
                  </a:moveTo>
                  <a:lnTo>
                    <a:pt x="210953" y="0"/>
                  </a:lnTo>
                  <a:lnTo>
                    <a:pt x="21095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7726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1095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3334383"/>
            <a:ext cx="8199192" cy="5923917"/>
          </a:xfrm>
          <a:custGeom>
            <a:avLst/>
            <a:gdLst/>
            <a:ahLst/>
            <a:cxnLst/>
            <a:rect r="r" b="b" t="t" l="l"/>
            <a:pathLst>
              <a:path h="5923917" w="8199192">
                <a:moveTo>
                  <a:pt x="0" y="0"/>
                </a:moveTo>
                <a:lnTo>
                  <a:pt x="8199192" y="0"/>
                </a:lnTo>
                <a:lnTo>
                  <a:pt x="8199192" y="5923917"/>
                </a:lnTo>
                <a:lnTo>
                  <a:pt x="0" y="59239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838932"/>
            <a:ext cx="13085147" cy="135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3"/>
              </a:lnSpc>
            </a:pPr>
            <a:r>
              <a:rPr lang="en-US" sz="4031" b="true">
                <a:solidFill>
                  <a:srgbClr val="17726D"/>
                </a:solidFill>
                <a:latin typeface="Inter Bold"/>
                <a:ea typeface="Inter Bold"/>
                <a:cs typeface="Inter Bold"/>
                <a:sym typeface="Inter Bold"/>
              </a:rPr>
              <a:t>ADDITIONAL ANALYSIS:</a:t>
            </a:r>
          </a:p>
          <a:p>
            <a:pPr algn="l">
              <a:lnSpc>
                <a:spcPts val="3150"/>
              </a:lnSpc>
            </a:pPr>
            <a:r>
              <a:rPr lang="en-US" sz="30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CROSS-SECTOR SIMILARITIES: IDENTIFY INDUSTRIES FROM DIFFERENT SECTORS THAT CLUSTER TOGETHER AND EXPLAIN WHY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61833" y="2506410"/>
            <a:ext cx="7591262" cy="705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0"/>
              </a:lnSpc>
              <a:spcBef>
                <a:spcPct val="0"/>
              </a:spcBef>
            </a:pPr>
            <a:r>
              <a:rPr lang="en-US" b="true" sz="2400">
                <a:solidFill>
                  <a:srgbClr val="00444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Similarity Clusters Identified:</a:t>
            </a:r>
          </a:p>
          <a:p>
            <a:pPr algn="l">
              <a:lnSpc>
                <a:spcPts val="247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ETF / Investment Fund Group</a:t>
            </a:r>
          </a:p>
          <a:p>
            <a:pPr algn="l" marL="345439" indent="-172720" lvl="1">
              <a:lnSpc>
                <a:spcPts val="247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Companies across sectors (e.g., Energy ETFs, Financial ETFs) all use similar fund language:  “seeks to track”, “fund objective”, “portfolio exposure”.</a:t>
            </a:r>
          </a:p>
          <a:p>
            <a:pPr algn="l" marL="345439" indent="-172720" lvl="1">
              <a:lnSpc>
                <a:spcPts val="247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This causes them to cluster regardless of whether the fund focuses on tech, real estate, or commodities.</a:t>
            </a:r>
          </a:p>
          <a:p>
            <a:pPr algn="l" marL="345439" indent="-172720" lvl="1">
              <a:lnSpc>
                <a:spcPts val="247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UMAP captures their textual format and structure, overriding sector distinctions.</a:t>
            </a:r>
          </a:p>
          <a:p>
            <a:pPr algn="l">
              <a:lnSpc>
                <a:spcPts val="2479"/>
              </a:lnSpc>
            </a:pPr>
          </a:p>
          <a:p>
            <a:pPr algn="l">
              <a:lnSpc>
                <a:spcPts val="247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n-US" b="true" sz="15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</a:t>
            </a:r>
            <a:r>
              <a:rPr lang="en-US" b="true" sz="15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nsurance Group</a:t>
            </a:r>
          </a:p>
          <a:p>
            <a:pPr algn="l" marL="345439" indent="-172720" lvl="1">
              <a:lnSpc>
                <a:spcPts val="247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Several companies from Financials and Healthcare sectors cluster due to shared terms like:</a:t>
            </a:r>
          </a:p>
          <a:p>
            <a:pPr algn="l" marL="345439" indent="-172720" lvl="1">
              <a:lnSpc>
                <a:spcPts val="247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“policyholder”, “underwriting”, “claims”, “coverage”.</a:t>
            </a:r>
          </a:p>
          <a:p>
            <a:pPr algn="l" marL="345439" indent="-172720" lvl="1">
              <a:lnSpc>
                <a:spcPts val="247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Shows that health insurance firms and life/property insurers form a semantically consistent block.</a:t>
            </a:r>
          </a:p>
          <a:p>
            <a:pPr algn="l">
              <a:lnSpc>
                <a:spcPts val="2479"/>
              </a:lnSpc>
            </a:pPr>
          </a:p>
          <a:p>
            <a:pPr algn="l">
              <a:lnSpc>
                <a:spcPts val="247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Fintech-like Financials</a:t>
            </a:r>
          </a:p>
          <a:p>
            <a:pPr algn="l" marL="345439" indent="-172720" lvl="1">
              <a:lnSpc>
                <a:spcPts val="247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Some financial firms cluster near technology companies due to modern, tech-forward language:</a:t>
            </a:r>
          </a:p>
          <a:p>
            <a:pPr algn="l" marL="345439" indent="-172720" lvl="1">
              <a:lnSpc>
                <a:spcPts val="247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“platform”, “API”, “payment infrastructure”, “mobile-first”.</a:t>
            </a:r>
          </a:p>
          <a:p>
            <a:pPr algn="l" marL="345439" indent="-172720" lvl="1">
              <a:lnSpc>
                <a:spcPts val="247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Indicates cross-sector convergence between Financials and Technology sectors — particularly in fintech.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4750" r="0" b="-3302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94689" y="3987753"/>
            <a:ext cx="13498621" cy="2159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259"/>
              </a:lnSpc>
            </a:pPr>
            <a:r>
              <a:rPr lang="en-US" b="true" sz="13175" spc="-13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DAGi9zPR4HY</dc:identifier>
  <dcterms:modified xsi:type="dcterms:W3CDTF">2011-08-01T06:04:30Z</dcterms:modified>
  <cp:revision>1</cp:revision>
  <dc:title>White Green Simple and Professional Business Pitch Deck Presentation</dc:title>
</cp:coreProperties>
</file>